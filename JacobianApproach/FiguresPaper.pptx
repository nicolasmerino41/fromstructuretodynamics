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68" r:id="rId4"/>
    <p:sldId id="267" r:id="rId5"/>
    <p:sldId id="266" r:id="rId6"/>
    <p:sldId id="257" r:id="rId7"/>
    <p:sldId id="258" r:id="rId8"/>
    <p:sldId id="263" r:id="rId9"/>
    <p:sldId id="264" r:id="rId10"/>
    <p:sldId id="259" r:id="rId11"/>
    <p:sldId id="261" r:id="rId12"/>
    <p:sldId id="262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FFFFFF"/>
    <a:srgbClr val="2F528F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713" autoAdjust="0"/>
  </p:normalViewPr>
  <p:slideViewPr>
    <p:cSldViewPr snapToGrid="0">
      <p:cViewPr varScale="1">
        <p:scale>
          <a:sx n="99" d="100"/>
          <a:sy n="99" d="100"/>
        </p:scale>
        <p:origin x="22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6A956-3F4C-4F0E-9E86-0DD824E02AA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D23D5-5B05-426D-880B-02F658F0FA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4167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D23D5-5B05-426D-880B-02F658F0FA8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836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D23D5-5B05-426D-880B-02F658F0FA8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8867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D23D5-5B05-426D-880B-02F658F0FA8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8295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2C2AC-B3EA-495F-B635-BA8A20707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EACC9A-F4D3-468B-AAE1-0EF2FB8F1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2D146A-4532-468F-A64E-D12BC142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BADA8B-39DB-4A88-8570-21F6F959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C41247-B0CA-4D29-92D7-0BF67337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239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6666C-0703-4CF3-B48E-95FCBDBC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01A519-474D-4028-A2BD-B3BB410AE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057603-5C98-4D7D-A6AF-DC0CA6A1F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72B3B7-7A34-484E-88A2-DA5C8957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26CF1C-FE4D-4874-A3A2-20708EB5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50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B6C0D-F769-41CC-9374-39D25235D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B922CF-3955-4445-A2C5-A30033B11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F883E9-F21C-4267-A289-03930E6F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F63FCE-6396-4727-A13F-ED62A1CE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83A58-B006-467E-AD51-37DB6425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447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51F6A-D847-41C4-A887-6DBF27954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C170A8-1742-4463-95FC-E6EC6EAA8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F185D6-142D-45A1-B49E-C6893FE57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6FF6CA-0F5B-4996-BE07-4FB80448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218B40-D6B8-4658-BDFC-4162CA83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66276B-320D-44D6-BAD4-3823EA5F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469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9FC09-0113-4ED2-9C34-DAA5215DC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707C31-17C0-424D-8D52-C7B92F58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588261-3DCB-4619-BDD5-ADD56FDEF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9C36DD-D80B-4CF2-B97C-857436A64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BCFDC7-BBEF-4BE7-A094-302876C9F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4749A1-F6C8-4345-B0B4-27CEBAD5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0F4DE9-D097-4F41-8B75-BC700F63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3ED397-9B10-4B56-BBD3-9432BFD4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036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A3DA4-1710-4BA2-ABB2-C4676815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A89CAE-80DA-42A8-B2DA-886F72FF9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3BC27D-9196-4C1E-9A6C-7DCE161D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DF2E6A-F48E-412D-8288-F8D53EC61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378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B442BC-3A16-4A47-9ADD-EAB737E6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0C60376-985F-403E-9D70-F73E4263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9B0003-B17F-4DA5-B96C-67126E7D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3214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47D6A-2BDF-4BA5-8731-E93863EE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9D84A7-A211-40E8-B083-4FCA095F5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2492AA-CE74-4F84-AEF4-68E24F158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D7BA58-349A-4748-9DB1-A9EFBFA91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B891B8-1BAB-42EC-A2BA-524A2221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BE06C1-0706-4041-BC4B-37906C3D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01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DAA08-0FF9-46AD-81A9-37AA9689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B620B1-9D81-4439-90BC-C6778E1D7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A5C61C-28D0-479C-B465-791084F15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EEAB01-4E81-45E0-90C3-C67F2F7E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6F993A-6A32-4C2A-B860-9ABE8E1D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F6E557-DED1-49C1-9AA2-F26FD3C2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292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2A79F-5076-4232-8095-6CDA990B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DFD0CE-357F-4E32-A300-1A03ADED5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EF28CD-DEF4-4D1C-8320-40EE0C316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6ABCD3-9628-4D83-A700-EDD2D15C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AC0775-4B5E-42E0-9A40-1E7AB81F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1725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17A8DF-671A-4383-94DC-E35D520B5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D3CDD8-B971-4DC5-AA72-52E331A4C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757ECE-B380-47BD-8385-17D6847C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EC07F7-8EA3-42E1-8574-9643ABF2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53CD85-0A7C-480B-9DA5-4482CD3E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0489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18FC269-9128-46D6-83BD-28688B52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E8B3F7-4CE3-4267-83F2-76AF248F3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E6B1BB-3F46-4938-B83F-F3BAA47F7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51DD1-20BD-44FE-BD57-CBA1777D2818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3B3D88-059C-4D51-A450-2C9E7B15E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0452C8-985F-4F2A-8261-625C2C87D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2086B-B383-4B9B-A9D3-ABD6D261B9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10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2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svg"/><Relationship Id="rId7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00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riángulo isósceles 102">
            <a:extLst>
              <a:ext uri="{FF2B5EF4-FFF2-40B4-BE49-F238E27FC236}">
                <a16:creationId xmlns:a16="http://schemas.microsoft.com/office/drawing/2014/main" id="{19549F7C-A74C-40A2-B8A5-2227BEAFBD93}"/>
              </a:ext>
            </a:extLst>
          </p:cNvPr>
          <p:cNvSpPr/>
          <p:nvPr/>
        </p:nvSpPr>
        <p:spPr>
          <a:xfrm flipV="1">
            <a:off x="992984" y="135491"/>
            <a:ext cx="2899557" cy="3038611"/>
          </a:xfrm>
          <a:prstGeom prst="triangle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3B58E9C2-A513-434A-8AD3-A053492015C8}"/>
              </a:ext>
            </a:extLst>
          </p:cNvPr>
          <p:cNvSpPr/>
          <p:nvPr/>
        </p:nvSpPr>
        <p:spPr>
          <a:xfrm>
            <a:off x="3193592" y="136702"/>
            <a:ext cx="3974704" cy="1920698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E1935BF-C71D-4DEA-98A9-34436782AA7D}"/>
              </a:ext>
            </a:extLst>
          </p:cNvPr>
          <p:cNvSpPr txBox="1"/>
          <p:nvPr/>
        </p:nvSpPr>
        <p:spPr>
          <a:xfrm>
            <a:off x="3399293" y="6426074"/>
            <a:ext cx="501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Time after perturbation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6214B8-411B-4C28-8935-98578AB2FF83}"/>
              </a:ext>
            </a:extLst>
          </p:cNvPr>
          <p:cNvSpPr txBox="1"/>
          <p:nvPr/>
        </p:nvSpPr>
        <p:spPr>
          <a:xfrm rot="16200000">
            <a:off x="-298568" y="4030376"/>
            <a:ext cx="501251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Recovery rate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2272C80-B349-42EE-B698-3CA4517DA0D1}"/>
              </a:ext>
            </a:extLst>
          </p:cNvPr>
          <p:cNvSpPr/>
          <p:nvPr/>
        </p:nvSpPr>
        <p:spPr>
          <a:xfrm>
            <a:off x="3180159" y="2025887"/>
            <a:ext cx="3974704" cy="4359255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ED88A3D-8727-4F58-A98A-5C2CA7AE6EEE}"/>
              </a:ext>
            </a:extLst>
          </p:cNvPr>
          <p:cNvSpPr/>
          <p:nvPr/>
        </p:nvSpPr>
        <p:spPr>
          <a:xfrm>
            <a:off x="7154859" y="136702"/>
            <a:ext cx="2203454" cy="62460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6925BA77-C96F-4355-9874-5F45EB60E665}"/>
              </a:ext>
            </a:extLst>
          </p:cNvPr>
          <p:cNvSpPr/>
          <p:nvPr/>
        </p:nvSpPr>
        <p:spPr>
          <a:xfrm>
            <a:off x="7016631" y="136702"/>
            <a:ext cx="273160" cy="6246039"/>
          </a:xfrm>
          <a:prstGeom prst="rect">
            <a:avLst/>
          </a:prstGeom>
          <a:gradFill>
            <a:gsLst>
              <a:gs pos="100000">
                <a:srgbClr val="E7E6E6"/>
              </a:gs>
              <a:gs pos="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F2F193D-C944-4753-B8DD-3BE193EE6B77}"/>
              </a:ext>
            </a:extLst>
          </p:cNvPr>
          <p:cNvCxnSpPr>
            <a:cxnSpLocks/>
            <a:stCxn id="101" idx="0"/>
          </p:cNvCxnSpPr>
          <p:nvPr/>
        </p:nvCxnSpPr>
        <p:spPr>
          <a:xfrm>
            <a:off x="7153211" y="136702"/>
            <a:ext cx="1651" cy="624843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D29034D-C5BC-41A3-AA85-1FB9B5535CA0}"/>
              </a:ext>
            </a:extLst>
          </p:cNvPr>
          <p:cNvSpPr/>
          <p:nvPr/>
        </p:nvSpPr>
        <p:spPr>
          <a:xfrm>
            <a:off x="2452786" y="136701"/>
            <a:ext cx="727373" cy="6248441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85732E3A-488B-46FD-A7E9-DA9F6DFACF26}"/>
              </a:ext>
            </a:extLst>
          </p:cNvPr>
          <p:cNvSpPr/>
          <p:nvPr/>
        </p:nvSpPr>
        <p:spPr>
          <a:xfrm>
            <a:off x="3084509" y="136701"/>
            <a:ext cx="190498" cy="6248442"/>
          </a:xfrm>
          <a:prstGeom prst="rect">
            <a:avLst/>
          </a:prstGeom>
          <a:gradFill>
            <a:gsLst>
              <a:gs pos="0">
                <a:srgbClr val="E7E6E6"/>
              </a:gs>
              <a:gs pos="10000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7B8F490E-3FB1-4C72-BB2E-37533EE7A7C2}"/>
              </a:ext>
            </a:extLst>
          </p:cNvPr>
          <p:cNvSpPr/>
          <p:nvPr/>
        </p:nvSpPr>
        <p:spPr>
          <a:xfrm>
            <a:off x="2452786" y="2487670"/>
            <a:ext cx="6905526" cy="3205384"/>
          </a:xfrm>
          <a:custGeom>
            <a:avLst/>
            <a:gdLst>
              <a:gd name="connsiteX0" fmla="*/ 0 w 2617876"/>
              <a:gd name="connsiteY0" fmla="*/ 96526 h 1215157"/>
              <a:gd name="connsiteX1" fmla="*/ 1049007 w 2617876"/>
              <a:gd name="connsiteY1" fmla="*/ 87243 h 1215157"/>
              <a:gd name="connsiteX2" fmla="*/ 1582794 w 2617876"/>
              <a:gd name="connsiteY2" fmla="*/ 1024851 h 1215157"/>
              <a:gd name="connsiteX3" fmla="*/ 2617876 w 2617876"/>
              <a:gd name="connsiteY3" fmla="*/ 1215157 h 121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876" h="1215157">
                <a:moveTo>
                  <a:pt x="0" y="96526"/>
                </a:moveTo>
                <a:cubicBezTo>
                  <a:pt x="392604" y="14524"/>
                  <a:pt x="785208" y="-67478"/>
                  <a:pt x="1049007" y="87243"/>
                </a:cubicBezTo>
                <a:cubicBezTo>
                  <a:pt x="1312806" y="241964"/>
                  <a:pt x="1321316" y="836865"/>
                  <a:pt x="1582794" y="1024851"/>
                </a:cubicBezTo>
                <a:cubicBezTo>
                  <a:pt x="1844272" y="1212837"/>
                  <a:pt x="2231074" y="1213997"/>
                  <a:pt x="2617876" y="1215157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D1A126F-809E-4F45-9EE1-A3C5046FB757}"/>
              </a:ext>
            </a:extLst>
          </p:cNvPr>
          <p:cNvCxnSpPr>
            <a:cxnSpLocks/>
            <a:stCxn id="100" idx="0"/>
          </p:cNvCxnSpPr>
          <p:nvPr/>
        </p:nvCxnSpPr>
        <p:spPr>
          <a:xfrm>
            <a:off x="3179758" y="136701"/>
            <a:ext cx="401" cy="624844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B433E40-BA57-4774-B3AA-C9D7572F045A}"/>
              </a:ext>
            </a:extLst>
          </p:cNvPr>
          <p:cNvCxnSpPr>
            <a:cxnSpLocks/>
          </p:cNvCxnSpPr>
          <p:nvPr/>
        </p:nvCxnSpPr>
        <p:spPr>
          <a:xfrm>
            <a:off x="2442762" y="6382741"/>
            <a:ext cx="69155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011CCC34-8F3B-4782-AD1B-1ABDC02EF4E0}"/>
              </a:ext>
            </a:extLst>
          </p:cNvPr>
          <p:cNvCxnSpPr>
            <a:cxnSpLocks/>
          </p:cNvCxnSpPr>
          <p:nvPr/>
        </p:nvCxnSpPr>
        <p:spPr>
          <a:xfrm flipV="1">
            <a:off x="2452786" y="2034232"/>
            <a:ext cx="0" cy="4356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48BE5A1-3604-4C23-B113-526F0C5BFE05}"/>
              </a:ext>
            </a:extLst>
          </p:cNvPr>
          <p:cNvSpPr txBox="1"/>
          <p:nvPr/>
        </p:nvSpPr>
        <p:spPr>
          <a:xfrm>
            <a:off x="9295951" y="5411563"/>
            <a:ext cx="1085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Resilience max Real(</a:t>
            </a:r>
            <a:r>
              <a:rPr lang="el-GR" b="0" i="0" dirty="0">
                <a:effectLst/>
                <a:latin typeface="Google Sans"/>
              </a:rPr>
              <a:t>λ</a:t>
            </a:r>
            <a:r>
              <a:rPr lang="es-ES" b="0" i="0" dirty="0">
                <a:effectLst/>
                <a:latin typeface="Agency FB" panose="020B0503020202020204" pitchFamily="34" charset="0"/>
              </a:rPr>
              <a:t>)</a:t>
            </a:r>
            <a:endParaRPr lang="en-GB" dirty="0">
              <a:latin typeface="Agency FB" panose="020B0503020202020204" pitchFamily="34" charset="0"/>
            </a:endParaRP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830BC024-84C2-42BE-9DBE-EFB77DC98094}"/>
              </a:ext>
            </a:extLst>
          </p:cNvPr>
          <p:cNvSpPr txBox="1"/>
          <p:nvPr/>
        </p:nvSpPr>
        <p:spPr>
          <a:xfrm>
            <a:off x="1460788" y="136702"/>
            <a:ext cx="134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Short term 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DF07D025-F99D-4AB1-BA1F-641E4191D295}"/>
              </a:ext>
            </a:extLst>
          </p:cNvPr>
          <p:cNvSpPr txBox="1"/>
          <p:nvPr/>
        </p:nvSpPr>
        <p:spPr>
          <a:xfrm>
            <a:off x="7595431" y="136889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Long term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0B72408-D0FF-4FAB-8F2B-2162FE6F700E}"/>
              </a:ext>
            </a:extLst>
          </p:cNvPr>
          <p:cNvSpPr txBox="1"/>
          <p:nvPr/>
        </p:nvSpPr>
        <p:spPr>
          <a:xfrm>
            <a:off x="4506356" y="136702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Mid term</a:t>
            </a:r>
          </a:p>
        </p:txBody>
      </p: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E431AD29-0600-4743-AF82-372A06C68A68}"/>
              </a:ext>
            </a:extLst>
          </p:cNvPr>
          <p:cNvCxnSpPr>
            <a:cxnSpLocks/>
          </p:cNvCxnSpPr>
          <p:nvPr/>
        </p:nvCxnSpPr>
        <p:spPr>
          <a:xfrm>
            <a:off x="2452786" y="5735273"/>
            <a:ext cx="6905526" cy="0"/>
          </a:xfrm>
          <a:prstGeom prst="line">
            <a:avLst/>
          </a:prstGeom>
          <a:ln w="19050">
            <a:gradFill flip="none" rotWithShape="1">
              <a:gsLst>
                <a:gs pos="100000">
                  <a:schemeClr val="tx1"/>
                </a:gs>
                <a:gs pos="33000">
                  <a:srgbClr val="FFFFFF">
                    <a:alpha val="0"/>
                  </a:srgbClr>
                </a:gs>
              </a:gsLst>
              <a:lin ang="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F33255C-BF57-4EC0-816C-6721362A8C3F}"/>
              </a:ext>
            </a:extLst>
          </p:cNvPr>
          <p:cNvCxnSpPr>
            <a:cxnSpLocks/>
            <a:stCxn id="103" idx="0"/>
            <a:endCxn id="103" idx="2"/>
          </p:cNvCxnSpPr>
          <p:nvPr/>
        </p:nvCxnSpPr>
        <p:spPr>
          <a:xfrm flipH="1" flipV="1">
            <a:off x="992984" y="135491"/>
            <a:ext cx="1449779" cy="30386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Imagen 128">
            <a:extLst>
              <a:ext uri="{FF2B5EF4-FFF2-40B4-BE49-F238E27FC236}">
                <a16:creationId xmlns:a16="http://schemas.microsoft.com/office/drawing/2014/main" id="{206A6052-67E6-49EB-B430-34053494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635" y="547153"/>
            <a:ext cx="1851902" cy="1421227"/>
          </a:xfrm>
          <a:prstGeom prst="rect">
            <a:avLst/>
          </a:prstGeom>
        </p:spPr>
      </p:pic>
      <p:pic>
        <p:nvPicPr>
          <p:cNvPr id="130" name="Imagen 129">
            <a:extLst>
              <a:ext uri="{FF2B5EF4-FFF2-40B4-BE49-F238E27FC236}">
                <a16:creationId xmlns:a16="http://schemas.microsoft.com/office/drawing/2014/main" id="{3097A35F-0E25-49EE-81A4-6D69C7541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121" y="547153"/>
            <a:ext cx="1445282" cy="1396804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DFCD5214-9306-480B-A0F6-1962CC545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256" y="547153"/>
            <a:ext cx="1298564" cy="1396800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B9C058F1-B469-47BE-8544-A016EC699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07" y="547153"/>
            <a:ext cx="1126741" cy="1404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AD6AEE4-D569-4791-96D5-90920A6656D7}"/>
                  </a:ext>
                </a:extLst>
              </p:cNvPr>
              <p:cNvSpPr txBox="1"/>
              <p:nvPr/>
            </p:nvSpPr>
            <p:spPr>
              <a:xfrm>
                <a:off x="6086594" y="1141431"/>
                <a:ext cx="97631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s-E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E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s-E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AD6AEE4-D569-4791-96D5-90920A665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594" y="1141431"/>
                <a:ext cx="976313" cy="215444"/>
              </a:xfrm>
              <a:prstGeom prst="rect">
                <a:avLst/>
              </a:prstGeom>
              <a:blipFill>
                <a:blip r:embed="rId6"/>
                <a:stretch>
                  <a:fillRect l="-621" b="-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CuadroTexto 73">
            <a:extLst>
              <a:ext uri="{FF2B5EF4-FFF2-40B4-BE49-F238E27FC236}">
                <a16:creationId xmlns:a16="http://schemas.microsoft.com/office/drawing/2014/main" id="{2EBD650A-2742-487C-B666-64E53885B538}"/>
              </a:ext>
            </a:extLst>
          </p:cNvPr>
          <p:cNvSpPr txBox="1"/>
          <p:nvPr/>
        </p:nvSpPr>
        <p:spPr>
          <a:xfrm>
            <a:off x="5964789" y="535976"/>
            <a:ext cx="1219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Agency FB" panose="020B0503020202020204" pitchFamily="34" charset="0"/>
              </a:rPr>
              <a:t>Non-normality</a:t>
            </a:r>
            <a:endParaRPr lang="en-GB" sz="105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458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ángulo 53">
            <a:extLst>
              <a:ext uri="{FF2B5EF4-FFF2-40B4-BE49-F238E27FC236}">
                <a16:creationId xmlns:a16="http://schemas.microsoft.com/office/drawing/2014/main" id="{7ED88A3D-8727-4F58-A98A-5C2CA7AE6EEE}"/>
              </a:ext>
            </a:extLst>
          </p:cNvPr>
          <p:cNvSpPr/>
          <p:nvPr/>
        </p:nvSpPr>
        <p:spPr>
          <a:xfrm>
            <a:off x="7154859" y="131148"/>
            <a:ext cx="2203454" cy="62460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3" name="Triángulo isósceles 102">
            <a:extLst>
              <a:ext uri="{FF2B5EF4-FFF2-40B4-BE49-F238E27FC236}">
                <a16:creationId xmlns:a16="http://schemas.microsoft.com/office/drawing/2014/main" id="{19549F7C-A74C-40A2-B8A5-2227BEAFBD93}"/>
              </a:ext>
            </a:extLst>
          </p:cNvPr>
          <p:cNvSpPr/>
          <p:nvPr/>
        </p:nvSpPr>
        <p:spPr>
          <a:xfrm flipV="1">
            <a:off x="992984" y="135491"/>
            <a:ext cx="2899557" cy="3038611"/>
          </a:xfrm>
          <a:prstGeom prst="triangle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3B58E9C2-A513-434A-8AD3-A053492015C8}"/>
              </a:ext>
            </a:extLst>
          </p:cNvPr>
          <p:cNvSpPr/>
          <p:nvPr/>
        </p:nvSpPr>
        <p:spPr>
          <a:xfrm>
            <a:off x="3193592" y="136702"/>
            <a:ext cx="3974704" cy="1920698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E1935BF-C71D-4DEA-98A9-34436782AA7D}"/>
              </a:ext>
            </a:extLst>
          </p:cNvPr>
          <p:cNvSpPr txBox="1"/>
          <p:nvPr/>
        </p:nvSpPr>
        <p:spPr>
          <a:xfrm>
            <a:off x="3399293" y="6426074"/>
            <a:ext cx="501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Time after perturbation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6214B8-411B-4C28-8935-98578AB2FF83}"/>
              </a:ext>
            </a:extLst>
          </p:cNvPr>
          <p:cNvSpPr txBox="1"/>
          <p:nvPr/>
        </p:nvSpPr>
        <p:spPr>
          <a:xfrm rot="16200000">
            <a:off x="-298568" y="4030378"/>
            <a:ext cx="501251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Recovery rate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2272C80-B349-42EE-B698-3CA4517DA0D1}"/>
              </a:ext>
            </a:extLst>
          </p:cNvPr>
          <p:cNvSpPr/>
          <p:nvPr/>
        </p:nvSpPr>
        <p:spPr>
          <a:xfrm>
            <a:off x="3177683" y="2029494"/>
            <a:ext cx="3974704" cy="4359255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6925BA77-C96F-4355-9874-5F45EB60E665}"/>
              </a:ext>
            </a:extLst>
          </p:cNvPr>
          <p:cNvSpPr/>
          <p:nvPr/>
        </p:nvSpPr>
        <p:spPr>
          <a:xfrm>
            <a:off x="7016631" y="136702"/>
            <a:ext cx="273160" cy="6246039"/>
          </a:xfrm>
          <a:prstGeom prst="rect">
            <a:avLst/>
          </a:prstGeom>
          <a:gradFill>
            <a:gsLst>
              <a:gs pos="100000">
                <a:srgbClr val="E7E6E6"/>
              </a:gs>
              <a:gs pos="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F2F193D-C944-4753-B8DD-3BE193EE6B77}"/>
              </a:ext>
            </a:extLst>
          </p:cNvPr>
          <p:cNvCxnSpPr>
            <a:cxnSpLocks/>
            <a:stCxn id="101" idx="0"/>
          </p:cNvCxnSpPr>
          <p:nvPr/>
        </p:nvCxnSpPr>
        <p:spPr>
          <a:xfrm>
            <a:off x="7153211" y="136702"/>
            <a:ext cx="1651" cy="624843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D29034D-C5BC-41A3-AA85-1FB9B5535CA0}"/>
              </a:ext>
            </a:extLst>
          </p:cNvPr>
          <p:cNvSpPr/>
          <p:nvPr/>
        </p:nvSpPr>
        <p:spPr>
          <a:xfrm>
            <a:off x="2452786" y="136701"/>
            <a:ext cx="727373" cy="6248441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85732E3A-488B-46FD-A7E9-DA9F6DFACF26}"/>
              </a:ext>
            </a:extLst>
          </p:cNvPr>
          <p:cNvSpPr/>
          <p:nvPr/>
        </p:nvSpPr>
        <p:spPr>
          <a:xfrm>
            <a:off x="3084509" y="136701"/>
            <a:ext cx="190498" cy="6248442"/>
          </a:xfrm>
          <a:prstGeom prst="rect">
            <a:avLst/>
          </a:prstGeom>
          <a:gradFill>
            <a:gsLst>
              <a:gs pos="0">
                <a:srgbClr val="E7E6E6"/>
              </a:gs>
              <a:gs pos="10000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7" name="Gráfico 56">
            <a:extLst>
              <a:ext uri="{FF2B5EF4-FFF2-40B4-BE49-F238E27FC236}">
                <a16:creationId xmlns:a16="http://schemas.microsoft.com/office/drawing/2014/main" id="{BD42A26F-D1A6-4339-BC5B-38074FB1E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2810" y="2510618"/>
            <a:ext cx="6894000" cy="3205951"/>
          </a:xfrm>
          <a:prstGeom prst="rect">
            <a:avLst/>
          </a:prstGeom>
        </p:spPr>
      </p:pic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D1A126F-809E-4F45-9EE1-A3C5046FB757}"/>
              </a:ext>
            </a:extLst>
          </p:cNvPr>
          <p:cNvCxnSpPr>
            <a:cxnSpLocks/>
            <a:stCxn id="100" idx="0"/>
          </p:cNvCxnSpPr>
          <p:nvPr/>
        </p:nvCxnSpPr>
        <p:spPr>
          <a:xfrm>
            <a:off x="3179758" y="136701"/>
            <a:ext cx="401" cy="624844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B433E40-BA57-4774-B3AA-C9D7572F045A}"/>
              </a:ext>
            </a:extLst>
          </p:cNvPr>
          <p:cNvCxnSpPr>
            <a:cxnSpLocks/>
          </p:cNvCxnSpPr>
          <p:nvPr/>
        </p:nvCxnSpPr>
        <p:spPr>
          <a:xfrm>
            <a:off x="2442762" y="6382741"/>
            <a:ext cx="69155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011CCC34-8F3B-4782-AD1B-1ABDC02EF4E0}"/>
              </a:ext>
            </a:extLst>
          </p:cNvPr>
          <p:cNvCxnSpPr>
            <a:cxnSpLocks/>
          </p:cNvCxnSpPr>
          <p:nvPr/>
        </p:nvCxnSpPr>
        <p:spPr>
          <a:xfrm flipV="1">
            <a:off x="2452786" y="2034232"/>
            <a:ext cx="0" cy="4356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48BE5A1-3604-4C23-B113-526F0C5BFE05}"/>
              </a:ext>
            </a:extLst>
          </p:cNvPr>
          <p:cNvSpPr txBox="1"/>
          <p:nvPr/>
        </p:nvSpPr>
        <p:spPr>
          <a:xfrm>
            <a:off x="9295950" y="5411563"/>
            <a:ext cx="1121229" cy="66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Agency FB" panose="020B0503020202020204" pitchFamily="34" charset="0"/>
              </a:rPr>
              <a:t>Resilience max Real(</a:t>
            </a:r>
            <a:r>
              <a:rPr lang="el-GR" sz="18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λ</a:t>
            </a:r>
            <a:r>
              <a:rPr lang="es-ES" sz="1800" kern="100" baseline="-250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i</a:t>
            </a:r>
            <a:r>
              <a:rPr lang="es-ES" b="0" i="0" dirty="0">
                <a:effectLst/>
                <a:latin typeface="Agency FB" panose="020B0503020202020204" pitchFamily="34" charset="0"/>
              </a:rPr>
              <a:t>)</a:t>
            </a:r>
            <a:endParaRPr lang="en-GB" dirty="0">
              <a:latin typeface="Agency FB" panose="020B0503020202020204" pitchFamily="34" charset="0"/>
            </a:endParaRP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830BC024-84C2-42BE-9DBE-EFB77DC98094}"/>
              </a:ext>
            </a:extLst>
          </p:cNvPr>
          <p:cNvSpPr txBox="1"/>
          <p:nvPr/>
        </p:nvSpPr>
        <p:spPr>
          <a:xfrm>
            <a:off x="1460788" y="136702"/>
            <a:ext cx="134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Short term 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DF07D025-F99D-4AB1-BA1F-641E4191D295}"/>
              </a:ext>
            </a:extLst>
          </p:cNvPr>
          <p:cNvSpPr txBox="1"/>
          <p:nvPr/>
        </p:nvSpPr>
        <p:spPr>
          <a:xfrm>
            <a:off x="7595431" y="136889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Long term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0B72408-D0FF-4FAB-8F2B-2162FE6F700E}"/>
              </a:ext>
            </a:extLst>
          </p:cNvPr>
          <p:cNvSpPr txBox="1"/>
          <p:nvPr/>
        </p:nvSpPr>
        <p:spPr>
          <a:xfrm>
            <a:off x="4506356" y="136702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Mid term</a:t>
            </a:r>
          </a:p>
        </p:txBody>
      </p: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E431AD29-0600-4743-AF82-372A06C68A68}"/>
              </a:ext>
            </a:extLst>
          </p:cNvPr>
          <p:cNvCxnSpPr>
            <a:cxnSpLocks/>
          </p:cNvCxnSpPr>
          <p:nvPr/>
        </p:nvCxnSpPr>
        <p:spPr>
          <a:xfrm>
            <a:off x="2452786" y="5728923"/>
            <a:ext cx="6905526" cy="0"/>
          </a:xfrm>
          <a:prstGeom prst="line">
            <a:avLst/>
          </a:prstGeom>
          <a:ln w="19050">
            <a:gradFill flip="none" rotWithShape="1">
              <a:gsLst>
                <a:gs pos="100000">
                  <a:schemeClr val="tx1"/>
                </a:gs>
                <a:gs pos="33000">
                  <a:srgbClr val="FFFFFF">
                    <a:alpha val="0"/>
                  </a:srgbClr>
                </a:gs>
              </a:gsLst>
              <a:lin ang="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F33255C-BF57-4EC0-816C-6721362A8C3F}"/>
              </a:ext>
            </a:extLst>
          </p:cNvPr>
          <p:cNvCxnSpPr>
            <a:cxnSpLocks/>
            <a:stCxn id="103" idx="0"/>
            <a:endCxn id="103" idx="2"/>
          </p:cNvCxnSpPr>
          <p:nvPr/>
        </p:nvCxnSpPr>
        <p:spPr>
          <a:xfrm flipH="1" flipV="1">
            <a:off x="992984" y="135491"/>
            <a:ext cx="1449779" cy="30386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Imagen 128">
            <a:extLst>
              <a:ext uri="{FF2B5EF4-FFF2-40B4-BE49-F238E27FC236}">
                <a16:creationId xmlns:a16="http://schemas.microsoft.com/office/drawing/2014/main" id="{206A6052-67E6-49EB-B430-340534948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0635" y="547153"/>
            <a:ext cx="1851902" cy="1421227"/>
          </a:xfrm>
          <a:prstGeom prst="rect">
            <a:avLst/>
          </a:prstGeom>
        </p:spPr>
      </p:pic>
      <p:pic>
        <p:nvPicPr>
          <p:cNvPr id="130" name="Imagen 129">
            <a:extLst>
              <a:ext uri="{FF2B5EF4-FFF2-40B4-BE49-F238E27FC236}">
                <a16:creationId xmlns:a16="http://schemas.microsoft.com/office/drawing/2014/main" id="{3097A35F-0E25-49EE-81A4-6D69C75415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0121" y="547153"/>
            <a:ext cx="1445282" cy="1396804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DFCD5214-9306-480B-A0F6-1962CC545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0256" y="547153"/>
            <a:ext cx="1298564" cy="1396800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B9C058F1-B469-47BE-8544-A016EC6994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507" y="547153"/>
            <a:ext cx="1126741" cy="1404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AD6AEE4-D569-4791-96D5-90920A6656D7}"/>
                  </a:ext>
                </a:extLst>
              </p:cNvPr>
              <p:cNvSpPr txBox="1"/>
              <p:nvPr/>
            </p:nvSpPr>
            <p:spPr>
              <a:xfrm>
                <a:off x="6086594" y="1141431"/>
                <a:ext cx="97631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s-E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E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s-E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AD6AEE4-D569-4791-96D5-90920A665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594" y="1141431"/>
                <a:ext cx="976313" cy="215444"/>
              </a:xfrm>
              <a:prstGeom prst="rect">
                <a:avLst/>
              </a:prstGeom>
              <a:blipFill>
                <a:blip r:embed="rId10"/>
                <a:stretch>
                  <a:fillRect l="-621" b="-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CuadroTexto 73">
            <a:extLst>
              <a:ext uri="{FF2B5EF4-FFF2-40B4-BE49-F238E27FC236}">
                <a16:creationId xmlns:a16="http://schemas.microsoft.com/office/drawing/2014/main" id="{2EBD650A-2742-487C-B666-64E53885B538}"/>
              </a:ext>
            </a:extLst>
          </p:cNvPr>
          <p:cNvSpPr txBox="1"/>
          <p:nvPr/>
        </p:nvSpPr>
        <p:spPr>
          <a:xfrm>
            <a:off x="5964789" y="535976"/>
            <a:ext cx="1219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Agency FB" panose="020B0503020202020204" pitchFamily="34" charset="0"/>
              </a:rPr>
              <a:t>Non-normality</a:t>
            </a:r>
            <a:endParaRPr lang="en-GB" sz="105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35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E0FA2C0-B39B-4DD9-A7E0-B45B7EA58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703" y="459794"/>
            <a:ext cx="5035543" cy="362520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D35A3242-3213-4FCA-99AE-AE568BB24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315" y="459794"/>
            <a:ext cx="5038774" cy="3625181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844F5169-6B56-498B-8EEB-962C235F9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474" y="4202222"/>
            <a:ext cx="5040000" cy="255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1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uadroTexto 28">
            <a:extLst>
              <a:ext uri="{FF2B5EF4-FFF2-40B4-BE49-F238E27FC236}">
                <a16:creationId xmlns:a16="http://schemas.microsoft.com/office/drawing/2014/main" id="{2B131255-FC2B-4CAF-B036-7A18C19077C6}"/>
              </a:ext>
            </a:extLst>
          </p:cNvPr>
          <p:cNvSpPr txBox="1"/>
          <p:nvPr/>
        </p:nvSpPr>
        <p:spPr>
          <a:xfrm>
            <a:off x="9304958" y="5411563"/>
            <a:ext cx="1121229" cy="66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Agency FB" panose="020B0503020202020204" pitchFamily="34" charset="0"/>
              </a:rPr>
              <a:t>Resilience max Real(</a:t>
            </a:r>
            <a:r>
              <a:rPr lang="el-GR" sz="18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λ</a:t>
            </a:r>
            <a:r>
              <a:rPr lang="es-ES" sz="1800" kern="100" baseline="-250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i</a:t>
            </a:r>
            <a:r>
              <a:rPr lang="es-ES" b="0" i="0" dirty="0">
                <a:effectLst/>
                <a:latin typeface="Agency FB" panose="020B0503020202020204" pitchFamily="34" charset="0"/>
              </a:rPr>
              <a:t>)</a:t>
            </a:r>
            <a:endParaRPr lang="en-GB" dirty="0">
              <a:latin typeface="Agency FB" panose="020B0503020202020204" pitchFamily="34" charset="0"/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ED88A3D-8727-4F58-A98A-5C2CA7AE6EEE}"/>
              </a:ext>
            </a:extLst>
          </p:cNvPr>
          <p:cNvSpPr/>
          <p:nvPr/>
        </p:nvSpPr>
        <p:spPr>
          <a:xfrm>
            <a:off x="7154859" y="131148"/>
            <a:ext cx="2203454" cy="62460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3" name="Triángulo isósceles 102">
            <a:extLst>
              <a:ext uri="{FF2B5EF4-FFF2-40B4-BE49-F238E27FC236}">
                <a16:creationId xmlns:a16="http://schemas.microsoft.com/office/drawing/2014/main" id="{19549F7C-A74C-40A2-B8A5-2227BEAFBD93}"/>
              </a:ext>
            </a:extLst>
          </p:cNvPr>
          <p:cNvSpPr/>
          <p:nvPr/>
        </p:nvSpPr>
        <p:spPr>
          <a:xfrm flipV="1">
            <a:off x="992984" y="135491"/>
            <a:ext cx="2899557" cy="3038611"/>
          </a:xfrm>
          <a:prstGeom prst="triangle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3B58E9C2-A513-434A-8AD3-A053492015C8}"/>
              </a:ext>
            </a:extLst>
          </p:cNvPr>
          <p:cNvSpPr/>
          <p:nvPr/>
        </p:nvSpPr>
        <p:spPr>
          <a:xfrm>
            <a:off x="3193592" y="136702"/>
            <a:ext cx="3974704" cy="1920698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E1935BF-C71D-4DEA-98A9-34436782AA7D}"/>
              </a:ext>
            </a:extLst>
          </p:cNvPr>
          <p:cNvSpPr txBox="1"/>
          <p:nvPr/>
        </p:nvSpPr>
        <p:spPr>
          <a:xfrm>
            <a:off x="3399293" y="6426074"/>
            <a:ext cx="501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Time after perturbation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6214B8-411B-4C28-8935-98578AB2FF83}"/>
              </a:ext>
            </a:extLst>
          </p:cNvPr>
          <p:cNvSpPr txBox="1"/>
          <p:nvPr/>
        </p:nvSpPr>
        <p:spPr>
          <a:xfrm rot="16200000">
            <a:off x="-298568" y="4030378"/>
            <a:ext cx="501251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Recovery rate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2272C80-B349-42EE-B698-3CA4517DA0D1}"/>
              </a:ext>
            </a:extLst>
          </p:cNvPr>
          <p:cNvSpPr/>
          <p:nvPr/>
        </p:nvSpPr>
        <p:spPr>
          <a:xfrm>
            <a:off x="3177683" y="2029494"/>
            <a:ext cx="3974704" cy="4359255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6925BA77-C96F-4355-9874-5F45EB60E665}"/>
              </a:ext>
            </a:extLst>
          </p:cNvPr>
          <p:cNvSpPr/>
          <p:nvPr/>
        </p:nvSpPr>
        <p:spPr>
          <a:xfrm>
            <a:off x="7016631" y="136702"/>
            <a:ext cx="273160" cy="6246039"/>
          </a:xfrm>
          <a:prstGeom prst="rect">
            <a:avLst/>
          </a:prstGeom>
          <a:gradFill>
            <a:gsLst>
              <a:gs pos="100000">
                <a:srgbClr val="E7E6E6"/>
              </a:gs>
              <a:gs pos="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F2F193D-C944-4753-B8DD-3BE193EE6B77}"/>
              </a:ext>
            </a:extLst>
          </p:cNvPr>
          <p:cNvCxnSpPr>
            <a:cxnSpLocks/>
            <a:stCxn id="101" idx="0"/>
          </p:cNvCxnSpPr>
          <p:nvPr/>
        </p:nvCxnSpPr>
        <p:spPr>
          <a:xfrm>
            <a:off x="7153211" y="136702"/>
            <a:ext cx="1651" cy="624843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D29034D-C5BC-41A3-AA85-1FB9B5535CA0}"/>
              </a:ext>
            </a:extLst>
          </p:cNvPr>
          <p:cNvSpPr/>
          <p:nvPr/>
        </p:nvSpPr>
        <p:spPr>
          <a:xfrm>
            <a:off x="2452786" y="136701"/>
            <a:ext cx="727373" cy="6248441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85732E3A-488B-46FD-A7E9-DA9F6DFACF26}"/>
              </a:ext>
            </a:extLst>
          </p:cNvPr>
          <p:cNvSpPr/>
          <p:nvPr/>
        </p:nvSpPr>
        <p:spPr>
          <a:xfrm>
            <a:off x="3084509" y="136701"/>
            <a:ext cx="190498" cy="6248442"/>
          </a:xfrm>
          <a:prstGeom prst="rect">
            <a:avLst/>
          </a:prstGeom>
          <a:gradFill>
            <a:gsLst>
              <a:gs pos="0">
                <a:srgbClr val="E7E6E6"/>
              </a:gs>
              <a:gs pos="10000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D1A126F-809E-4F45-9EE1-A3C5046FB757}"/>
              </a:ext>
            </a:extLst>
          </p:cNvPr>
          <p:cNvCxnSpPr>
            <a:cxnSpLocks/>
            <a:stCxn id="100" idx="0"/>
          </p:cNvCxnSpPr>
          <p:nvPr/>
        </p:nvCxnSpPr>
        <p:spPr>
          <a:xfrm>
            <a:off x="3179758" y="136701"/>
            <a:ext cx="401" cy="624844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B433E40-BA57-4774-B3AA-C9D7572F045A}"/>
              </a:ext>
            </a:extLst>
          </p:cNvPr>
          <p:cNvCxnSpPr>
            <a:cxnSpLocks/>
          </p:cNvCxnSpPr>
          <p:nvPr/>
        </p:nvCxnSpPr>
        <p:spPr>
          <a:xfrm>
            <a:off x="2442762" y="6382741"/>
            <a:ext cx="69155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011CCC34-8F3B-4782-AD1B-1ABDC02EF4E0}"/>
              </a:ext>
            </a:extLst>
          </p:cNvPr>
          <p:cNvCxnSpPr>
            <a:cxnSpLocks/>
          </p:cNvCxnSpPr>
          <p:nvPr/>
        </p:nvCxnSpPr>
        <p:spPr>
          <a:xfrm flipV="1">
            <a:off x="2452786" y="2034232"/>
            <a:ext cx="0" cy="4356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>
            <a:extLst>
              <a:ext uri="{FF2B5EF4-FFF2-40B4-BE49-F238E27FC236}">
                <a16:creationId xmlns:a16="http://schemas.microsoft.com/office/drawing/2014/main" id="{830BC024-84C2-42BE-9DBE-EFB77DC98094}"/>
              </a:ext>
            </a:extLst>
          </p:cNvPr>
          <p:cNvSpPr txBox="1"/>
          <p:nvPr/>
        </p:nvSpPr>
        <p:spPr>
          <a:xfrm>
            <a:off x="1460788" y="136702"/>
            <a:ext cx="134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Short term 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DF07D025-F99D-4AB1-BA1F-641E4191D295}"/>
              </a:ext>
            </a:extLst>
          </p:cNvPr>
          <p:cNvSpPr txBox="1"/>
          <p:nvPr/>
        </p:nvSpPr>
        <p:spPr>
          <a:xfrm>
            <a:off x="7595431" y="136889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Long term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0B72408-D0FF-4FAB-8F2B-2162FE6F700E}"/>
              </a:ext>
            </a:extLst>
          </p:cNvPr>
          <p:cNvSpPr txBox="1"/>
          <p:nvPr/>
        </p:nvSpPr>
        <p:spPr>
          <a:xfrm>
            <a:off x="4506356" y="136702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Mid term</a:t>
            </a:r>
          </a:p>
        </p:txBody>
      </p: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E431AD29-0600-4743-AF82-372A06C68A68}"/>
              </a:ext>
            </a:extLst>
          </p:cNvPr>
          <p:cNvCxnSpPr>
            <a:cxnSpLocks/>
          </p:cNvCxnSpPr>
          <p:nvPr/>
        </p:nvCxnSpPr>
        <p:spPr>
          <a:xfrm>
            <a:off x="2452786" y="5735273"/>
            <a:ext cx="6905526" cy="0"/>
          </a:xfrm>
          <a:prstGeom prst="line">
            <a:avLst/>
          </a:prstGeom>
          <a:ln w="19050">
            <a:gradFill flip="none" rotWithShape="1">
              <a:gsLst>
                <a:gs pos="100000">
                  <a:schemeClr val="tx1"/>
                </a:gs>
                <a:gs pos="33000">
                  <a:srgbClr val="FFFFFF">
                    <a:alpha val="0"/>
                  </a:srgbClr>
                </a:gs>
              </a:gsLst>
              <a:lin ang="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F33255C-BF57-4EC0-816C-6721362A8C3F}"/>
              </a:ext>
            </a:extLst>
          </p:cNvPr>
          <p:cNvCxnSpPr>
            <a:cxnSpLocks/>
            <a:stCxn id="103" idx="0"/>
            <a:endCxn id="103" idx="2"/>
          </p:cNvCxnSpPr>
          <p:nvPr/>
        </p:nvCxnSpPr>
        <p:spPr>
          <a:xfrm flipH="1" flipV="1">
            <a:off x="992984" y="135491"/>
            <a:ext cx="1449779" cy="30386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Imagen 128">
            <a:extLst>
              <a:ext uri="{FF2B5EF4-FFF2-40B4-BE49-F238E27FC236}">
                <a16:creationId xmlns:a16="http://schemas.microsoft.com/office/drawing/2014/main" id="{206A6052-67E6-49EB-B430-34053494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635" y="547153"/>
            <a:ext cx="1851902" cy="1421227"/>
          </a:xfrm>
          <a:prstGeom prst="rect">
            <a:avLst/>
          </a:prstGeom>
        </p:spPr>
      </p:pic>
      <p:pic>
        <p:nvPicPr>
          <p:cNvPr id="130" name="Imagen 129">
            <a:extLst>
              <a:ext uri="{FF2B5EF4-FFF2-40B4-BE49-F238E27FC236}">
                <a16:creationId xmlns:a16="http://schemas.microsoft.com/office/drawing/2014/main" id="{3097A35F-0E25-49EE-81A4-6D69C7541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121" y="547153"/>
            <a:ext cx="1445282" cy="1396804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DFCD5214-9306-480B-A0F6-1962CC545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256" y="547153"/>
            <a:ext cx="1298564" cy="1396800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B9C058F1-B469-47BE-8544-A016EC699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07" y="547153"/>
            <a:ext cx="1126741" cy="1404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AD6AEE4-D569-4791-96D5-90920A6656D7}"/>
                  </a:ext>
                </a:extLst>
              </p:cNvPr>
              <p:cNvSpPr txBox="1"/>
              <p:nvPr/>
            </p:nvSpPr>
            <p:spPr>
              <a:xfrm>
                <a:off x="6086594" y="1141431"/>
                <a:ext cx="97631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s-E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E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s-E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ES" sz="1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AD6AEE4-D569-4791-96D5-90920A665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594" y="1141431"/>
                <a:ext cx="976313" cy="215444"/>
              </a:xfrm>
              <a:prstGeom prst="rect">
                <a:avLst/>
              </a:prstGeom>
              <a:blipFill>
                <a:blip r:embed="rId10"/>
                <a:stretch>
                  <a:fillRect l="-621" b="-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CuadroTexto 73">
            <a:extLst>
              <a:ext uri="{FF2B5EF4-FFF2-40B4-BE49-F238E27FC236}">
                <a16:creationId xmlns:a16="http://schemas.microsoft.com/office/drawing/2014/main" id="{2EBD650A-2742-487C-B666-64E53885B538}"/>
              </a:ext>
            </a:extLst>
          </p:cNvPr>
          <p:cNvSpPr txBox="1"/>
          <p:nvPr/>
        </p:nvSpPr>
        <p:spPr>
          <a:xfrm>
            <a:off x="5964789" y="535976"/>
            <a:ext cx="1219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Agency FB" panose="020B0503020202020204" pitchFamily="34" charset="0"/>
              </a:rPr>
              <a:t>Non-normality</a:t>
            </a:r>
            <a:endParaRPr lang="en-GB" sz="1050" dirty="0">
              <a:latin typeface="Agency FB" panose="020B0503020202020204" pitchFamily="34" charset="0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C4F6F60C-D46D-4AE6-9C2F-E4107EB30B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61311" y="2503043"/>
            <a:ext cx="6893599" cy="338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49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3FCEF1AF-241E-4F05-BB64-EF27364D0ED9}"/>
              </a:ext>
            </a:extLst>
          </p:cNvPr>
          <p:cNvGrpSpPr/>
          <p:nvPr/>
        </p:nvGrpSpPr>
        <p:grpSpPr>
          <a:xfrm>
            <a:off x="1098862" y="193742"/>
            <a:ext cx="9388025" cy="6664258"/>
            <a:chOff x="992984" y="131148"/>
            <a:chExt cx="9388025" cy="666425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86803B8-3EFF-4035-9115-213B86383215}"/>
                </a:ext>
              </a:extLst>
            </p:cNvPr>
            <p:cNvSpPr/>
            <p:nvPr/>
          </p:nvSpPr>
          <p:spPr>
            <a:xfrm>
              <a:off x="7154859" y="131148"/>
              <a:ext cx="2203454" cy="624604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" name="Triángulo isósceles 4">
              <a:extLst>
                <a:ext uri="{FF2B5EF4-FFF2-40B4-BE49-F238E27FC236}">
                  <a16:creationId xmlns:a16="http://schemas.microsoft.com/office/drawing/2014/main" id="{CBC9C0BB-28DF-40E4-9D53-E87C1AAF9E6E}"/>
                </a:ext>
              </a:extLst>
            </p:cNvPr>
            <p:cNvSpPr/>
            <p:nvPr/>
          </p:nvSpPr>
          <p:spPr>
            <a:xfrm flipV="1">
              <a:off x="992984" y="135491"/>
              <a:ext cx="2899557" cy="3038611"/>
            </a:xfrm>
            <a:prstGeom prst="triangle">
              <a:avLst/>
            </a:prstGeom>
            <a:solidFill>
              <a:srgbClr val="E7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C3776BA-1F48-46F5-8C45-3EF4166D8F41}"/>
                </a:ext>
              </a:extLst>
            </p:cNvPr>
            <p:cNvSpPr/>
            <p:nvPr/>
          </p:nvSpPr>
          <p:spPr>
            <a:xfrm>
              <a:off x="3193592" y="136702"/>
              <a:ext cx="3974704" cy="1920698"/>
            </a:xfrm>
            <a:prstGeom prst="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1D7D1D2-21E4-4E65-B08E-4D2C0FAA8951}"/>
                </a:ext>
              </a:extLst>
            </p:cNvPr>
            <p:cNvSpPr txBox="1"/>
            <p:nvPr/>
          </p:nvSpPr>
          <p:spPr>
            <a:xfrm>
              <a:off x="3399293" y="6426074"/>
              <a:ext cx="5012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Time after perturbation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1C2C0390-7369-4C68-881E-43B7044B9730}"/>
                </a:ext>
              </a:extLst>
            </p:cNvPr>
            <p:cNvSpPr txBox="1"/>
            <p:nvPr/>
          </p:nvSpPr>
          <p:spPr>
            <a:xfrm rot="16200000">
              <a:off x="-298568" y="4030378"/>
              <a:ext cx="5012512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Recovery rate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EC39D6B4-C196-475C-BC6C-91BAF81EABB3}"/>
                </a:ext>
              </a:extLst>
            </p:cNvPr>
            <p:cNvSpPr/>
            <p:nvPr/>
          </p:nvSpPr>
          <p:spPr>
            <a:xfrm>
              <a:off x="3177683" y="2029494"/>
              <a:ext cx="3974704" cy="4359255"/>
            </a:xfrm>
            <a:prstGeom prst="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AAD5EF0E-0B04-4E30-B497-804CE171509F}"/>
                </a:ext>
              </a:extLst>
            </p:cNvPr>
            <p:cNvSpPr/>
            <p:nvPr/>
          </p:nvSpPr>
          <p:spPr>
            <a:xfrm>
              <a:off x="7016631" y="136702"/>
              <a:ext cx="273160" cy="6246039"/>
            </a:xfrm>
            <a:prstGeom prst="rect">
              <a:avLst/>
            </a:prstGeom>
            <a:gradFill>
              <a:gsLst>
                <a:gs pos="100000">
                  <a:srgbClr val="E7E6E6"/>
                </a:gs>
                <a:gs pos="0">
                  <a:srgbClr val="DAE3F3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0EC8D49A-3F65-4CB1-9EA9-F1F7C6B6C038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>
              <a:off x="7153211" y="136702"/>
              <a:ext cx="1651" cy="624843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54E9EDA7-21F7-483B-9E8D-9D20F0B64523}"/>
                </a:ext>
              </a:extLst>
            </p:cNvPr>
            <p:cNvSpPr/>
            <p:nvPr/>
          </p:nvSpPr>
          <p:spPr>
            <a:xfrm>
              <a:off x="2452786" y="136701"/>
              <a:ext cx="727373" cy="6248441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1E59395-B568-4DBF-A90C-00503C3C2D6A}"/>
                </a:ext>
              </a:extLst>
            </p:cNvPr>
            <p:cNvSpPr/>
            <p:nvPr/>
          </p:nvSpPr>
          <p:spPr>
            <a:xfrm>
              <a:off x="3084509" y="136701"/>
              <a:ext cx="190498" cy="6248442"/>
            </a:xfrm>
            <a:prstGeom prst="rect">
              <a:avLst/>
            </a:prstGeom>
            <a:gradFill>
              <a:gsLst>
                <a:gs pos="0">
                  <a:srgbClr val="E7E6E6"/>
                </a:gs>
                <a:gs pos="100000">
                  <a:srgbClr val="DAE3F3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9DAC6347-ACB9-4C94-B2FC-0E12DB961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62810" y="2510618"/>
              <a:ext cx="6894000" cy="3205951"/>
            </a:xfrm>
            <a:prstGeom prst="rect">
              <a:avLst/>
            </a:prstGeom>
          </p:spPr>
        </p:pic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637E1BB3-AD39-4063-A37B-D23776C1379E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>
              <a:off x="3179758" y="136701"/>
              <a:ext cx="401" cy="624844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98AC59D-3530-446A-9A06-91FEB2D50165}"/>
                </a:ext>
              </a:extLst>
            </p:cNvPr>
            <p:cNvCxnSpPr>
              <a:cxnSpLocks/>
            </p:cNvCxnSpPr>
            <p:nvPr/>
          </p:nvCxnSpPr>
          <p:spPr>
            <a:xfrm>
              <a:off x="2442762" y="6382741"/>
              <a:ext cx="691555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D05240E6-2B3C-4086-ADDE-B9252763D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2786" y="2034232"/>
              <a:ext cx="0" cy="43568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E2AB7340-77D1-425B-A073-0646DA19CA38}"/>
                </a:ext>
              </a:extLst>
            </p:cNvPr>
            <p:cNvSpPr txBox="1"/>
            <p:nvPr/>
          </p:nvSpPr>
          <p:spPr>
            <a:xfrm>
              <a:off x="9295951" y="5411563"/>
              <a:ext cx="10850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Resilience max Real(</a:t>
              </a:r>
              <a:r>
                <a:rPr lang="el-GR" b="0" i="0" dirty="0">
                  <a:effectLst/>
                  <a:latin typeface="Google Sans"/>
                </a:rPr>
                <a:t>λ</a:t>
              </a:r>
              <a:r>
                <a:rPr lang="es-ES" b="0" i="0" dirty="0">
                  <a:effectLst/>
                  <a:latin typeface="Agency FB" panose="020B0503020202020204" pitchFamily="34" charset="0"/>
                </a:rPr>
                <a:t>)</a:t>
              </a:r>
              <a:endParaRPr lang="en-GB" dirty="0">
                <a:latin typeface="Agency FB" panose="020B0503020202020204" pitchFamily="34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61049A4-0690-4281-94E0-E4F1E23FCF35}"/>
                </a:ext>
              </a:extLst>
            </p:cNvPr>
            <p:cNvSpPr txBox="1"/>
            <p:nvPr/>
          </p:nvSpPr>
          <p:spPr>
            <a:xfrm>
              <a:off x="1460788" y="136702"/>
              <a:ext cx="1348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Short term 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D075C81-68B4-4FE2-ADAE-D348928C1FB2}"/>
                </a:ext>
              </a:extLst>
            </p:cNvPr>
            <p:cNvSpPr txBox="1"/>
            <p:nvPr/>
          </p:nvSpPr>
          <p:spPr>
            <a:xfrm>
              <a:off x="7595431" y="136889"/>
              <a:ext cx="1322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Long term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6E3E9901-02B1-4B1D-9DB7-6F088343F758}"/>
                </a:ext>
              </a:extLst>
            </p:cNvPr>
            <p:cNvSpPr txBox="1"/>
            <p:nvPr/>
          </p:nvSpPr>
          <p:spPr>
            <a:xfrm>
              <a:off x="4506356" y="136702"/>
              <a:ext cx="1322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Mid term</a:t>
              </a:r>
            </a:p>
          </p:txBody>
        </p: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F12106AF-D50D-4B9B-8EEC-48116FB41666}"/>
                </a:ext>
              </a:extLst>
            </p:cNvPr>
            <p:cNvCxnSpPr>
              <a:cxnSpLocks/>
            </p:cNvCxnSpPr>
            <p:nvPr/>
          </p:nvCxnSpPr>
          <p:spPr>
            <a:xfrm>
              <a:off x="2452786" y="5735273"/>
              <a:ext cx="6905526" cy="0"/>
            </a:xfrm>
            <a:prstGeom prst="line">
              <a:avLst/>
            </a:prstGeom>
            <a:ln w="19050">
              <a:gradFill flip="none" rotWithShape="1">
                <a:gsLst>
                  <a:gs pos="100000">
                    <a:schemeClr val="tx1"/>
                  </a:gs>
                  <a:gs pos="33000">
                    <a:srgbClr val="FFFFFF">
                      <a:alpha val="0"/>
                    </a:srgbClr>
                  </a:gs>
                </a:gsLst>
                <a:lin ang="0" scaled="1"/>
                <a:tileRect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68602A16-79F8-4D05-B99A-9070FEA56E7E}"/>
                </a:ext>
              </a:extLst>
            </p:cNvPr>
            <p:cNvCxnSpPr>
              <a:cxnSpLocks/>
              <a:stCxn id="5" idx="0"/>
              <a:endCxn id="5" idx="2"/>
            </p:cNvCxnSpPr>
            <p:nvPr/>
          </p:nvCxnSpPr>
          <p:spPr>
            <a:xfrm flipH="1" flipV="1">
              <a:off x="992984" y="135491"/>
              <a:ext cx="1449779" cy="30386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B579D094-3F56-4087-BAED-7857EFCCE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0635" y="547153"/>
              <a:ext cx="1851902" cy="1421227"/>
            </a:xfrm>
            <a:prstGeom prst="rect">
              <a:avLst/>
            </a:prstGeom>
          </p:spPr>
        </p:pic>
        <p:pic>
          <p:nvPicPr>
            <p:cNvPr id="25" name="Gráfico 24">
              <a:extLst>
                <a:ext uri="{FF2B5EF4-FFF2-40B4-BE49-F238E27FC236}">
                  <a16:creationId xmlns:a16="http://schemas.microsoft.com/office/drawing/2014/main" id="{5AFCF9A1-55B2-4497-8F3C-B115E7A73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62810" y="2510618"/>
              <a:ext cx="6895499" cy="3358410"/>
            </a:xfrm>
            <a:prstGeom prst="rect">
              <a:avLst/>
            </a:prstGeom>
          </p:spPr>
        </p:pic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F2ED13FE-0F50-4FB3-AADD-3BC5B7C5C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20121" y="547153"/>
              <a:ext cx="1445282" cy="1396804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E6C88F11-DDDD-44F6-A241-5D813984C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70256" y="547153"/>
              <a:ext cx="1298564" cy="1396800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12A57EB3-35D3-4284-BB41-4D23A9605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11507" y="547153"/>
              <a:ext cx="1126741" cy="1404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152738B6-1C90-469C-8A24-8BB93138C85D}"/>
                    </a:ext>
                  </a:extLst>
                </p:cNvPr>
                <p:cNvSpPr txBox="1"/>
                <p:nvPr/>
              </p:nvSpPr>
              <p:spPr>
                <a:xfrm>
                  <a:off x="6086594" y="1141431"/>
                  <a:ext cx="976313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4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s-ES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s-E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s-E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p>
                          <m:sSupPr>
                            <m:ctrlPr>
                              <a:rPr lang="es-E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s-ES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s-E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s-ES" sz="1400" dirty="0"/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152738B6-1C90-469C-8A24-8BB93138C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594" y="1141431"/>
                  <a:ext cx="976313" cy="215444"/>
                </a:xfrm>
                <a:prstGeom prst="rect">
                  <a:avLst/>
                </a:prstGeom>
                <a:blipFill>
                  <a:blip r:embed="rId10"/>
                  <a:stretch>
                    <a:fillRect l="-621" b="-8333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B3842298-9210-4479-827D-F79F1DEBA575}"/>
                </a:ext>
              </a:extLst>
            </p:cNvPr>
            <p:cNvSpPr txBox="1"/>
            <p:nvPr/>
          </p:nvSpPr>
          <p:spPr>
            <a:xfrm>
              <a:off x="5964789" y="535976"/>
              <a:ext cx="12199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>
                  <a:latin typeface="Agency FB" panose="020B0503020202020204" pitchFamily="34" charset="0"/>
                </a:rPr>
                <a:t>Non-normality</a:t>
              </a:r>
              <a:endParaRPr lang="en-GB" sz="1050" dirty="0">
                <a:latin typeface="Agency FB" panose="020B05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601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upo 43">
            <a:extLst>
              <a:ext uri="{FF2B5EF4-FFF2-40B4-BE49-F238E27FC236}">
                <a16:creationId xmlns:a16="http://schemas.microsoft.com/office/drawing/2014/main" id="{26D52E76-A665-4844-A70B-C6C35BE5A9DA}"/>
              </a:ext>
            </a:extLst>
          </p:cNvPr>
          <p:cNvGrpSpPr/>
          <p:nvPr/>
        </p:nvGrpSpPr>
        <p:grpSpPr>
          <a:xfrm>
            <a:off x="3142212" y="1684910"/>
            <a:ext cx="2739629" cy="2642889"/>
            <a:chOff x="3142212" y="1684910"/>
            <a:chExt cx="2739629" cy="2642889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7330093-176C-40DC-AF78-A8210A54AFBC}"/>
                </a:ext>
              </a:extLst>
            </p:cNvPr>
            <p:cNvSpPr/>
            <p:nvPr/>
          </p:nvSpPr>
          <p:spPr>
            <a:xfrm>
              <a:off x="3625882" y="1912105"/>
              <a:ext cx="283139" cy="20887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0C74B573-E834-440A-81ED-ACABE8BF9DB1}"/>
                </a:ext>
              </a:extLst>
            </p:cNvPr>
            <p:cNvSpPr/>
            <p:nvPr/>
          </p:nvSpPr>
          <p:spPr>
            <a:xfrm>
              <a:off x="4015005" y="2172922"/>
              <a:ext cx="283139" cy="18279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3A44B89F-E895-42CE-A253-84F6C2899A25}"/>
                </a:ext>
              </a:extLst>
            </p:cNvPr>
            <p:cNvSpPr/>
            <p:nvPr/>
          </p:nvSpPr>
          <p:spPr>
            <a:xfrm>
              <a:off x="4404128" y="2817222"/>
              <a:ext cx="283139" cy="11836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D1942CD-A96D-4981-B097-8739F3F207D3}"/>
                </a:ext>
              </a:extLst>
            </p:cNvPr>
            <p:cNvSpPr/>
            <p:nvPr/>
          </p:nvSpPr>
          <p:spPr>
            <a:xfrm>
              <a:off x="4796345" y="3147022"/>
              <a:ext cx="283139" cy="8538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E864117-9805-4DA0-A390-691536EA5561}"/>
                </a:ext>
              </a:extLst>
            </p:cNvPr>
            <p:cNvSpPr/>
            <p:nvPr/>
          </p:nvSpPr>
          <p:spPr>
            <a:xfrm>
              <a:off x="5185468" y="3736508"/>
              <a:ext cx="283139" cy="2643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3C715EF-1590-4951-BA9A-001FD2502B27}"/>
                </a:ext>
              </a:extLst>
            </p:cNvPr>
            <p:cNvSpPr/>
            <p:nvPr/>
          </p:nvSpPr>
          <p:spPr>
            <a:xfrm>
              <a:off x="5574591" y="3815415"/>
              <a:ext cx="283139" cy="1854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687304A3-E038-44D4-BA1B-37E61B815EB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276" y="1684910"/>
              <a:ext cx="0" cy="23254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D5279294-9E71-4E66-A268-5C885B84B4F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695003" y="2838111"/>
              <a:ext cx="0" cy="23254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A377130-E653-4C48-B5B6-1511B4424A36}"/>
                </a:ext>
              </a:extLst>
            </p:cNvPr>
            <p:cNvSpPr txBox="1"/>
            <p:nvPr/>
          </p:nvSpPr>
          <p:spPr>
            <a:xfrm rot="19131788">
              <a:off x="3535867" y="4012424"/>
              <a:ext cx="456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Agency FB" panose="020B0503020202020204" pitchFamily="34" charset="0"/>
                </a:rPr>
                <a:t>Sp.1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505C908B-E164-4F98-A302-EE09F9BE688E}"/>
                </a:ext>
              </a:extLst>
            </p:cNvPr>
            <p:cNvSpPr txBox="1"/>
            <p:nvPr/>
          </p:nvSpPr>
          <p:spPr>
            <a:xfrm rot="19131788">
              <a:off x="3926538" y="4012424"/>
              <a:ext cx="456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Agency FB" panose="020B0503020202020204" pitchFamily="34" charset="0"/>
                </a:rPr>
                <a:t>Sp.2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7B0E1C33-91E0-4D52-8772-CABC2FDEA8C4}"/>
                </a:ext>
              </a:extLst>
            </p:cNvPr>
            <p:cNvSpPr txBox="1"/>
            <p:nvPr/>
          </p:nvSpPr>
          <p:spPr>
            <a:xfrm rot="19131788">
              <a:off x="4317207" y="4012424"/>
              <a:ext cx="456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Agency FB" panose="020B0503020202020204" pitchFamily="34" charset="0"/>
                </a:rPr>
                <a:t>Sp.3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0ACBAC65-846A-4ECC-9BA3-5DDAF9801586}"/>
                </a:ext>
              </a:extLst>
            </p:cNvPr>
            <p:cNvSpPr txBox="1"/>
            <p:nvPr/>
          </p:nvSpPr>
          <p:spPr>
            <a:xfrm rot="19131788">
              <a:off x="4707877" y="4012424"/>
              <a:ext cx="456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Agency FB" panose="020B0503020202020204" pitchFamily="34" charset="0"/>
                </a:rPr>
                <a:t>Sp.4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1AACF89F-BD35-4104-BDDD-BA397A95097B}"/>
                </a:ext>
              </a:extLst>
            </p:cNvPr>
            <p:cNvSpPr txBox="1"/>
            <p:nvPr/>
          </p:nvSpPr>
          <p:spPr>
            <a:xfrm rot="19131788">
              <a:off x="5098547" y="4012424"/>
              <a:ext cx="456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Agency FB" panose="020B0503020202020204" pitchFamily="34" charset="0"/>
                </a:rPr>
                <a:t>Sp.5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5E99F981-764A-4F00-9404-E82A4EE7F2CE}"/>
                </a:ext>
              </a:extLst>
            </p:cNvPr>
            <p:cNvSpPr txBox="1"/>
            <p:nvPr/>
          </p:nvSpPr>
          <p:spPr>
            <a:xfrm rot="19131788">
              <a:off x="5424862" y="3958467"/>
              <a:ext cx="4569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…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F9A08BE2-10CE-4AF0-9BCF-AB22199A6514}"/>
                </a:ext>
              </a:extLst>
            </p:cNvPr>
            <p:cNvSpPr txBox="1"/>
            <p:nvPr/>
          </p:nvSpPr>
          <p:spPr>
            <a:xfrm rot="19131788">
              <a:off x="3535867" y="4012428"/>
              <a:ext cx="456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Agency FB" panose="020B0503020202020204" pitchFamily="34" charset="0"/>
                </a:rPr>
                <a:t>Sp.1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4FD2D6E9-6C81-4852-B7D8-E75C552B1C60}"/>
                </a:ext>
              </a:extLst>
            </p:cNvPr>
            <p:cNvSpPr txBox="1"/>
            <p:nvPr/>
          </p:nvSpPr>
          <p:spPr>
            <a:xfrm rot="16200000">
              <a:off x="2698330" y="2616805"/>
              <a:ext cx="1349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>
                  <a:latin typeface="Agency FB" panose="020B0503020202020204" pitchFamily="34" charset="0"/>
                </a:rPr>
                <a:t>Time Scales</a:t>
              </a:r>
            </a:p>
          </p:txBody>
        </p: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5869F951-0171-4883-943A-55518BFD7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913" y="2359819"/>
            <a:ext cx="1167126" cy="115953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894C3E35-1C9D-40DF-8F83-1F92CC052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383" y="1208626"/>
            <a:ext cx="2926334" cy="279221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D14B17CC-2A34-4BB1-B593-4347345DC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978" y="2023750"/>
            <a:ext cx="2908044" cy="2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7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>
            <a:extLst>
              <a:ext uri="{FF2B5EF4-FFF2-40B4-BE49-F238E27FC236}">
                <a16:creationId xmlns:a16="http://schemas.microsoft.com/office/drawing/2014/main" id="{3491E6C2-1939-4D5A-858B-CB7D77BCE27E}"/>
              </a:ext>
            </a:extLst>
          </p:cNvPr>
          <p:cNvGrpSpPr/>
          <p:nvPr/>
        </p:nvGrpSpPr>
        <p:grpSpPr>
          <a:xfrm>
            <a:off x="2509828" y="1558367"/>
            <a:ext cx="4433896" cy="3293834"/>
            <a:chOff x="2509828" y="1558367"/>
            <a:chExt cx="4433896" cy="3293834"/>
          </a:xfrm>
        </p:grpSpPr>
        <p:cxnSp>
          <p:nvCxnSpPr>
            <p:cNvPr id="2" name="Conector recto 1">
              <a:extLst>
                <a:ext uri="{FF2B5EF4-FFF2-40B4-BE49-F238E27FC236}">
                  <a16:creationId xmlns:a16="http://schemas.microsoft.com/office/drawing/2014/main" id="{622488DC-D928-4D77-B0E7-C5B9B485DC46}"/>
                </a:ext>
              </a:extLst>
            </p:cNvPr>
            <p:cNvCxnSpPr>
              <a:cxnSpLocks/>
            </p:cNvCxnSpPr>
            <p:nvPr/>
          </p:nvCxnSpPr>
          <p:spPr>
            <a:xfrm>
              <a:off x="5367342" y="1981974"/>
              <a:ext cx="0" cy="25528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8B1C0DC2-3973-4E41-87CD-6A7122B7DF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43391" y="1376363"/>
              <a:ext cx="0" cy="36671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35DA395-D33D-4C84-8414-C4338EEC2271}"/>
                </a:ext>
              </a:extLst>
            </p:cNvPr>
            <p:cNvSpPr txBox="1"/>
            <p:nvPr/>
          </p:nvSpPr>
          <p:spPr>
            <a:xfrm>
              <a:off x="6121781" y="3025259"/>
              <a:ext cx="498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latin typeface="Agency FB" panose="020B0503020202020204" pitchFamily="34" charset="0"/>
                </a:rPr>
                <a:t>Real</a:t>
              </a:r>
              <a:endParaRPr lang="en-GB" dirty="0">
                <a:latin typeface="Agency FB" panose="020B0503020202020204" pitchFamily="34" charset="0"/>
              </a:endParaRP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51246ABA-55A5-49E1-8E08-4C0BD7C7F83E}"/>
                </a:ext>
              </a:extLst>
            </p:cNvPr>
            <p:cNvSpPr txBox="1"/>
            <p:nvPr/>
          </p:nvSpPr>
          <p:spPr>
            <a:xfrm>
              <a:off x="4824792" y="4482869"/>
              <a:ext cx="1085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latin typeface="Agency FB" panose="020B0503020202020204" pitchFamily="34" charset="0"/>
                </a:rPr>
                <a:t>Imaginary</a:t>
              </a:r>
              <a:endParaRPr lang="en-GB" dirty="0">
                <a:latin typeface="Agency FB" panose="020B0503020202020204" pitchFamily="34" charset="0"/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4F66D69D-5E30-4855-821B-F98702196BDC}"/>
                </a:ext>
              </a:extLst>
            </p:cNvPr>
            <p:cNvSpPr/>
            <p:nvPr/>
          </p:nvSpPr>
          <p:spPr>
            <a:xfrm>
              <a:off x="3023987" y="2169318"/>
              <a:ext cx="2081213" cy="208121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EE47C84-6074-4967-AE41-816B31E3ECB6}"/>
                </a:ext>
              </a:extLst>
            </p:cNvPr>
            <p:cNvSpPr/>
            <p:nvPr/>
          </p:nvSpPr>
          <p:spPr>
            <a:xfrm>
              <a:off x="3470276" y="2320925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5D64052A-4B85-42C2-9F97-DB34954E6D4F}"/>
                </a:ext>
              </a:extLst>
            </p:cNvPr>
            <p:cNvSpPr/>
            <p:nvPr/>
          </p:nvSpPr>
          <p:spPr>
            <a:xfrm>
              <a:off x="4212670" y="2169318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35E2C990-E348-4302-97AB-777985FE7D08}"/>
                </a:ext>
              </a:extLst>
            </p:cNvPr>
            <p:cNvSpPr/>
            <p:nvPr/>
          </p:nvSpPr>
          <p:spPr>
            <a:xfrm>
              <a:off x="3835242" y="2169318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BB875D1D-C2A2-4C0D-A200-5094A87AC34D}"/>
                </a:ext>
              </a:extLst>
            </p:cNvPr>
            <p:cNvSpPr/>
            <p:nvPr/>
          </p:nvSpPr>
          <p:spPr>
            <a:xfrm>
              <a:off x="4515089" y="2256234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7807CD94-48F2-4839-8E9C-55F61E941026}"/>
                </a:ext>
              </a:extLst>
            </p:cNvPr>
            <p:cNvSpPr/>
            <p:nvPr/>
          </p:nvSpPr>
          <p:spPr>
            <a:xfrm>
              <a:off x="4309111" y="3186111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7327BBD-F5F2-45EA-90B3-C00D016926A6}"/>
                </a:ext>
              </a:extLst>
            </p:cNvPr>
            <p:cNvSpPr/>
            <p:nvPr/>
          </p:nvSpPr>
          <p:spPr>
            <a:xfrm>
              <a:off x="4064593" y="3186110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33F35CE8-8BB3-4318-8A92-BDBCE6DF557D}"/>
                </a:ext>
              </a:extLst>
            </p:cNvPr>
            <p:cNvSpPr/>
            <p:nvPr/>
          </p:nvSpPr>
          <p:spPr>
            <a:xfrm>
              <a:off x="3833100" y="2457450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85E7516A-3C35-4BA2-A9C5-3C08BF906145}"/>
                </a:ext>
              </a:extLst>
            </p:cNvPr>
            <p:cNvSpPr/>
            <p:nvPr/>
          </p:nvSpPr>
          <p:spPr>
            <a:xfrm>
              <a:off x="4490086" y="2618184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2F7F2E81-D49A-449F-B31B-D2095CA1496A}"/>
                </a:ext>
              </a:extLst>
            </p:cNvPr>
            <p:cNvSpPr/>
            <p:nvPr/>
          </p:nvSpPr>
          <p:spPr>
            <a:xfrm>
              <a:off x="4038637" y="2641994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ADDC54A6-1837-490B-9A22-3273ACEC300D}"/>
                </a:ext>
              </a:extLst>
            </p:cNvPr>
            <p:cNvSpPr/>
            <p:nvPr/>
          </p:nvSpPr>
          <p:spPr>
            <a:xfrm>
              <a:off x="4806591" y="3186109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55AC598A-0EB1-43B6-92A8-F201D88077BE}"/>
                </a:ext>
              </a:extLst>
            </p:cNvPr>
            <p:cNvSpPr/>
            <p:nvPr/>
          </p:nvSpPr>
          <p:spPr>
            <a:xfrm>
              <a:off x="3434002" y="2817415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DC2AC1CF-5E50-41B2-A996-3C497B873D57}"/>
                </a:ext>
              </a:extLst>
            </p:cNvPr>
            <p:cNvSpPr/>
            <p:nvPr/>
          </p:nvSpPr>
          <p:spPr>
            <a:xfrm>
              <a:off x="3656649" y="2720578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A49093C1-54A6-4A8C-AF45-7D222E2E2E7C}"/>
                </a:ext>
              </a:extLst>
            </p:cNvPr>
            <p:cNvSpPr/>
            <p:nvPr/>
          </p:nvSpPr>
          <p:spPr>
            <a:xfrm>
              <a:off x="5002242" y="2793602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7DF0BA6A-9630-4958-9962-FB04CB70165E}"/>
                </a:ext>
              </a:extLst>
            </p:cNvPr>
            <p:cNvSpPr/>
            <p:nvPr/>
          </p:nvSpPr>
          <p:spPr>
            <a:xfrm>
              <a:off x="3899536" y="3438524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2017E5C-D2B3-45F0-9162-ACB84DB5A987}"/>
                </a:ext>
              </a:extLst>
            </p:cNvPr>
            <p:cNvSpPr/>
            <p:nvPr/>
          </p:nvSpPr>
          <p:spPr>
            <a:xfrm>
              <a:off x="4388883" y="3486149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70E9336E-58EF-4FD6-85C8-AD0902EFD256}"/>
                </a:ext>
              </a:extLst>
            </p:cNvPr>
            <p:cNvSpPr/>
            <p:nvPr/>
          </p:nvSpPr>
          <p:spPr>
            <a:xfrm>
              <a:off x="4666298" y="3355717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87F477B6-1EE5-45DA-BBBA-33A78899E516}"/>
                </a:ext>
              </a:extLst>
            </p:cNvPr>
            <p:cNvSpPr/>
            <p:nvPr/>
          </p:nvSpPr>
          <p:spPr>
            <a:xfrm>
              <a:off x="3931683" y="3754042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FB358467-A8B9-4345-AF2B-43D5CF1F1076}"/>
                </a:ext>
              </a:extLst>
            </p:cNvPr>
            <p:cNvSpPr/>
            <p:nvPr/>
          </p:nvSpPr>
          <p:spPr>
            <a:xfrm>
              <a:off x="3684150" y="3186109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DF875D2-23E9-41A7-9D08-42CD9DD5D185}"/>
                </a:ext>
              </a:extLst>
            </p:cNvPr>
            <p:cNvSpPr/>
            <p:nvPr/>
          </p:nvSpPr>
          <p:spPr>
            <a:xfrm>
              <a:off x="3572114" y="4115992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2AC1D53C-BBF5-4C56-9166-704A9BAF2AEA}"/>
                </a:ext>
              </a:extLst>
            </p:cNvPr>
            <p:cNvSpPr/>
            <p:nvPr/>
          </p:nvSpPr>
          <p:spPr>
            <a:xfrm>
              <a:off x="3189923" y="3781962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6982CC57-5F27-47A5-BE5E-CA2D0D81AFA8}"/>
                </a:ext>
              </a:extLst>
            </p:cNvPr>
            <p:cNvSpPr/>
            <p:nvPr/>
          </p:nvSpPr>
          <p:spPr>
            <a:xfrm>
              <a:off x="4436507" y="4155283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C411F28B-05F7-47C3-BCD7-3B3A3ABE914E}"/>
                </a:ext>
              </a:extLst>
            </p:cNvPr>
            <p:cNvSpPr/>
            <p:nvPr/>
          </p:nvSpPr>
          <p:spPr>
            <a:xfrm>
              <a:off x="4887004" y="3777854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2372C461-1AD6-45AB-8D28-E0B2C430981C}"/>
                </a:ext>
              </a:extLst>
            </p:cNvPr>
            <p:cNvSpPr/>
            <p:nvPr/>
          </p:nvSpPr>
          <p:spPr>
            <a:xfrm>
              <a:off x="4388882" y="3754042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12E13DDC-418D-4E31-B679-F4646FFB83A4}"/>
                </a:ext>
              </a:extLst>
            </p:cNvPr>
            <p:cNvSpPr/>
            <p:nvPr/>
          </p:nvSpPr>
          <p:spPr>
            <a:xfrm>
              <a:off x="4713923" y="3989784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2413F1CD-AA63-4A47-A3C0-B8143F438815}"/>
                </a:ext>
              </a:extLst>
            </p:cNvPr>
            <p:cNvSpPr/>
            <p:nvPr/>
          </p:nvSpPr>
          <p:spPr>
            <a:xfrm>
              <a:off x="4794886" y="2922984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8050556B-49EC-4019-ABE3-9C1CB528A87E}"/>
                </a:ext>
              </a:extLst>
            </p:cNvPr>
            <p:cNvSpPr/>
            <p:nvPr/>
          </p:nvSpPr>
          <p:spPr>
            <a:xfrm>
              <a:off x="4188857" y="2899171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AF90D572-9FF2-45C5-A7D2-83B391775C6E}"/>
                </a:ext>
              </a:extLst>
            </p:cNvPr>
            <p:cNvSpPr/>
            <p:nvPr/>
          </p:nvSpPr>
          <p:spPr>
            <a:xfrm>
              <a:off x="3106025" y="2733080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BA50E043-16E3-4EF4-8483-6CF0010C5B6B}"/>
                </a:ext>
              </a:extLst>
            </p:cNvPr>
            <p:cNvSpPr/>
            <p:nvPr/>
          </p:nvSpPr>
          <p:spPr>
            <a:xfrm>
              <a:off x="3253026" y="3449242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931CC644-0AD0-4C3F-88B0-469B2DC2A985}"/>
                </a:ext>
              </a:extLst>
            </p:cNvPr>
            <p:cNvSpPr/>
            <p:nvPr/>
          </p:nvSpPr>
          <p:spPr>
            <a:xfrm>
              <a:off x="4136587" y="3989784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7BE57D48-2E59-4FC0-A204-29E0BE217C31}"/>
                </a:ext>
              </a:extLst>
            </p:cNvPr>
            <p:cNvSpPr/>
            <p:nvPr/>
          </p:nvSpPr>
          <p:spPr>
            <a:xfrm>
              <a:off x="3166110" y="3018352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9B7DF010-39D3-4716-8B8D-066023377E4A}"/>
                </a:ext>
              </a:extLst>
            </p:cNvPr>
            <p:cNvSpPr/>
            <p:nvPr/>
          </p:nvSpPr>
          <p:spPr>
            <a:xfrm>
              <a:off x="3023987" y="3396851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6E76A7D7-EE77-4EC9-8CB7-BAB0DE87B2BA}"/>
                </a:ext>
              </a:extLst>
            </p:cNvPr>
            <p:cNvSpPr/>
            <p:nvPr/>
          </p:nvSpPr>
          <p:spPr>
            <a:xfrm>
              <a:off x="3000174" y="3186109"/>
              <a:ext cx="47625" cy="476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A245EA20-55AE-488A-B7BB-3EBD0734F07C}"/>
                </a:ext>
              </a:extLst>
            </p:cNvPr>
            <p:cNvCxnSpPr>
              <a:cxnSpLocks/>
              <a:stCxn id="40" idx="5"/>
            </p:cNvCxnSpPr>
            <p:nvPr/>
          </p:nvCxnSpPr>
          <p:spPr>
            <a:xfrm>
              <a:off x="5122037" y="3226759"/>
              <a:ext cx="956782" cy="56582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D4599685-1854-4621-A016-84A1FF9D0A1B}"/>
                </a:ext>
              </a:extLst>
            </p:cNvPr>
            <p:cNvSpPr/>
            <p:nvPr/>
          </p:nvSpPr>
          <p:spPr>
            <a:xfrm>
              <a:off x="5081387" y="3186109"/>
              <a:ext cx="47625" cy="47625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EF5438C7-5FD7-46C0-A01A-031AC2F1AFD8}"/>
                </a:ext>
              </a:extLst>
            </p:cNvPr>
            <p:cNvSpPr txBox="1"/>
            <p:nvPr/>
          </p:nvSpPr>
          <p:spPr>
            <a:xfrm>
              <a:off x="6007373" y="3578624"/>
              <a:ext cx="9363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0000"/>
                  </a:solidFill>
                  <a:latin typeface="Agency FB" panose="020B0503020202020204" pitchFamily="34" charset="0"/>
                </a:rPr>
                <a:t>Resilience</a:t>
              </a:r>
              <a:endParaRPr lang="en-GB" dirty="0">
                <a:solidFill>
                  <a:srgbClr val="FF0000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D0038970-7956-404C-BD92-D30A1E9D45F5}"/>
                </a:ext>
              </a:extLst>
            </p:cNvPr>
            <p:cNvSpPr txBox="1"/>
            <p:nvPr/>
          </p:nvSpPr>
          <p:spPr>
            <a:xfrm>
              <a:off x="3872225" y="1558367"/>
              <a:ext cx="1709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latin typeface="Agency FB" panose="020B0503020202020204" pitchFamily="34" charset="0"/>
                </a:rPr>
                <a:t>Circle</a:t>
              </a:r>
              <a:r>
                <a:rPr lang="es-ES" dirty="0">
                  <a:latin typeface="Agency FB" panose="020B0503020202020204" pitchFamily="34" charset="0"/>
                </a:rPr>
                <a:t> </a:t>
              </a:r>
              <a:r>
                <a:rPr lang="es-ES" dirty="0" err="1">
                  <a:latin typeface="Agency FB" panose="020B0503020202020204" pitchFamily="34" charset="0"/>
                </a:rPr>
                <a:t>of</a:t>
              </a:r>
              <a:r>
                <a:rPr lang="es-ES" dirty="0">
                  <a:latin typeface="Agency FB" panose="020B0503020202020204" pitchFamily="34" charset="0"/>
                </a:rPr>
                <a:t> </a:t>
              </a:r>
              <a:r>
                <a:rPr lang="es-ES" dirty="0" err="1">
                  <a:latin typeface="Agency FB" panose="020B0503020202020204" pitchFamily="34" charset="0"/>
                </a:rPr>
                <a:t>eigenvalues</a:t>
              </a:r>
              <a:endParaRPr lang="en-GB" dirty="0">
                <a:latin typeface="Agency FB" panose="020B0503020202020204" pitchFamily="34" charset="0"/>
              </a:endParaRPr>
            </a:p>
          </p:txBody>
        </p:sp>
      </p:grpSp>
      <p:pic>
        <p:nvPicPr>
          <p:cNvPr id="55" name="Imagen 54">
            <a:extLst>
              <a:ext uri="{FF2B5EF4-FFF2-40B4-BE49-F238E27FC236}">
                <a16:creationId xmlns:a16="http://schemas.microsoft.com/office/drawing/2014/main" id="{8E61AB8E-DE19-481E-AF5D-7671981C6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510" y="65997"/>
            <a:ext cx="4456562" cy="34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4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upo 139">
            <a:extLst>
              <a:ext uri="{FF2B5EF4-FFF2-40B4-BE49-F238E27FC236}">
                <a16:creationId xmlns:a16="http://schemas.microsoft.com/office/drawing/2014/main" id="{F9607B92-DB08-4F44-B446-089DAF45415A}"/>
              </a:ext>
            </a:extLst>
          </p:cNvPr>
          <p:cNvGrpSpPr/>
          <p:nvPr/>
        </p:nvGrpSpPr>
        <p:grpSpPr>
          <a:xfrm>
            <a:off x="4940299" y="1359006"/>
            <a:ext cx="2311400" cy="2463066"/>
            <a:chOff x="6829004" y="1259946"/>
            <a:chExt cx="2311400" cy="2463066"/>
          </a:xfrm>
        </p:grpSpPr>
        <p:cxnSp>
          <p:nvCxnSpPr>
            <p:cNvPr id="2" name="Conector recto 1">
              <a:extLst>
                <a:ext uri="{FF2B5EF4-FFF2-40B4-BE49-F238E27FC236}">
                  <a16:creationId xmlns:a16="http://schemas.microsoft.com/office/drawing/2014/main" id="{622488DC-D928-4D77-B0E7-C5B9B485DC46}"/>
                </a:ext>
              </a:extLst>
            </p:cNvPr>
            <p:cNvCxnSpPr>
              <a:cxnSpLocks/>
            </p:cNvCxnSpPr>
            <p:nvPr/>
          </p:nvCxnSpPr>
          <p:spPr>
            <a:xfrm>
              <a:off x="8029339" y="1259946"/>
              <a:ext cx="0" cy="24630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CB7891B0-1E87-4676-B9A0-C06DB39F5BFF}"/>
                </a:ext>
              </a:extLst>
            </p:cNvPr>
            <p:cNvCxnSpPr>
              <a:cxnSpLocks/>
            </p:cNvCxnSpPr>
            <p:nvPr/>
          </p:nvCxnSpPr>
          <p:spPr>
            <a:xfrm>
              <a:off x="6829004" y="2520050"/>
              <a:ext cx="2311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C8D16E4-CDE0-4B33-BFF8-97556E692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7772" y="1599671"/>
              <a:ext cx="1644213" cy="17748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65CAF57C-70E0-422D-B9D9-D181909C09C4}"/>
                </a:ext>
              </a:extLst>
            </p:cNvPr>
            <p:cNvGrpSpPr/>
            <p:nvPr/>
          </p:nvGrpSpPr>
          <p:grpSpPr>
            <a:xfrm>
              <a:off x="7581792" y="2842687"/>
              <a:ext cx="195138" cy="124175"/>
              <a:chOff x="5318438" y="3494091"/>
              <a:chExt cx="195138" cy="124175"/>
            </a:xfrm>
          </p:grpSpPr>
          <p:grpSp>
            <p:nvGrpSpPr>
              <p:cNvPr id="83" name="Grupo 82">
                <a:extLst>
                  <a:ext uri="{FF2B5EF4-FFF2-40B4-BE49-F238E27FC236}">
                    <a16:creationId xmlns:a16="http://schemas.microsoft.com/office/drawing/2014/main" id="{063D2552-AF88-40B5-9097-694F9BEDE8CD}"/>
                  </a:ext>
                </a:extLst>
              </p:cNvPr>
              <p:cNvGrpSpPr/>
              <p:nvPr/>
            </p:nvGrpSpPr>
            <p:grpSpPr>
              <a:xfrm rot="2433111">
                <a:off x="5349687" y="3494091"/>
                <a:ext cx="163889" cy="87006"/>
                <a:chOff x="3659000" y="2491681"/>
                <a:chExt cx="163889" cy="87006"/>
              </a:xfrm>
            </p:grpSpPr>
            <p:cxnSp>
              <p:nvCxnSpPr>
                <p:cNvPr id="78" name="Conector recto 77">
                  <a:extLst>
                    <a:ext uri="{FF2B5EF4-FFF2-40B4-BE49-F238E27FC236}">
                      <a16:creationId xmlns:a16="http://schemas.microsoft.com/office/drawing/2014/main" id="{FF2D1F05-172C-47F5-9D84-DE619952CE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59000" y="2491681"/>
                  <a:ext cx="87005" cy="87006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Conector recto 78">
                  <a:extLst>
                    <a:ext uri="{FF2B5EF4-FFF2-40B4-BE49-F238E27FC236}">
                      <a16:creationId xmlns:a16="http://schemas.microsoft.com/office/drawing/2014/main" id="{DE5D79E3-4499-4B5D-96E3-49F902269B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0349" y="2496145"/>
                  <a:ext cx="82540" cy="8254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8748D195-CCE4-47A7-B085-AFF342CE792E}"/>
                  </a:ext>
                </a:extLst>
              </p:cNvPr>
              <p:cNvGrpSpPr/>
              <p:nvPr/>
            </p:nvGrpSpPr>
            <p:grpSpPr>
              <a:xfrm rot="2330880">
                <a:off x="5318438" y="3531260"/>
                <a:ext cx="163889" cy="87006"/>
                <a:chOff x="3659000" y="2491681"/>
                <a:chExt cx="163889" cy="87006"/>
              </a:xfrm>
            </p:grpSpPr>
            <p:cxnSp>
              <p:nvCxnSpPr>
                <p:cNvPr id="85" name="Conector recto 84">
                  <a:extLst>
                    <a:ext uri="{FF2B5EF4-FFF2-40B4-BE49-F238E27FC236}">
                      <a16:creationId xmlns:a16="http://schemas.microsoft.com/office/drawing/2014/main" id="{E89B744E-CB02-491E-9BB2-51C8C1B068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59000" y="2491681"/>
                  <a:ext cx="87005" cy="87006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Conector recto 85">
                  <a:extLst>
                    <a:ext uri="{FF2B5EF4-FFF2-40B4-BE49-F238E27FC236}">
                      <a16:creationId xmlns:a16="http://schemas.microsoft.com/office/drawing/2014/main" id="{1F1111B0-C326-4DB8-AA86-20F6EF7999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0349" y="2496145"/>
                  <a:ext cx="82540" cy="8254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A9CBF237-F374-42CB-8BB9-1A00EE3FB1BC}"/>
                </a:ext>
              </a:extLst>
            </p:cNvPr>
            <p:cNvGrpSpPr/>
            <p:nvPr/>
          </p:nvGrpSpPr>
          <p:grpSpPr>
            <a:xfrm rot="10592180">
              <a:off x="8289450" y="2065678"/>
              <a:ext cx="195138" cy="124175"/>
              <a:chOff x="5318438" y="3494091"/>
              <a:chExt cx="195138" cy="124175"/>
            </a:xfrm>
          </p:grpSpPr>
          <p:grpSp>
            <p:nvGrpSpPr>
              <p:cNvPr id="89" name="Grupo 88">
                <a:extLst>
                  <a:ext uri="{FF2B5EF4-FFF2-40B4-BE49-F238E27FC236}">
                    <a16:creationId xmlns:a16="http://schemas.microsoft.com/office/drawing/2014/main" id="{1702B866-B57B-4E39-B7FE-E31BF7D1C611}"/>
                  </a:ext>
                </a:extLst>
              </p:cNvPr>
              <p:cNvGrpSpPr/>
              <p:nvPr/>
            </p:nvGrpSpPr>
            <p:grpSpPr>
              <a:xfrm rot="2433111">
                <a:off x="5349687" y="3494091"/>
                <a:ext cx="163889" cy="87006"/>
                <a:chOff x="3659000" y="2491681"/>
                <a:chExt cx="163889" cy="87006"/>
              </a:xfrm>
            </p:grpSpPr>
            <p:cxnSp>
              <p:nvCxnSpPr>
                <p:cNvPr id="93" name="Conector recto 92">
                  <a:extLst>
                    <a:ext uri="{FF2B5EF4-FFF2-40B4-BE49-F238E27FC236}">
                      <a16:creationId xmlns:a16="http://schemas.microsoft.com/office/drawing/2014/main" id="{C5079500-E224-4DE4-BD9F-EE6FAE94B1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59000" y="2491681"/>
                  <a:ext cx="87005" cy="87006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Conector recto 93">
                  <a:extLst>
                    <a:ext uri="{FF2B5EF4-FFF2-40B4-BE49-F238E27FC236}">
                      <a16:creationId xmlns:a16="http://schemas.microsoft.com/office/drawing/2014/main" id="{6FEEABA5-62EB-4807-ABC4-DD94232478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0349" y="2496145"/>
                  <a:ext cx="82540" cy="8254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upo 89">
                <a:extLst>
                  <a:ext uri="{FF2B5EF4-FFF2-40B4-BE49-F238E27FC236}">
                    <a16:creationId xmlns:a16="http://schemas.microsoft.com/office/drawing/2014/main" id="{714791C0-AC03-4B54-9346-28DC90C0A462}"/>
                  </a:ext>
                </a:extLst>
              </p:cNvPr>
              <p:cNvGrpSpPr/>
              <p:nvPr/>
            </p:nvGrpSpPr>
            <p:grpSpPr>
              <a:xfrm rot="2330880">
                <a:off x="5318438" y="3531260"/>
                <a:ext cx="163889" cy="87006"/>
                <a:chOff x="3659000" y="2491681"/>
                <a:chExt cx="163889" cy="87006"/>
              </a:xfrm>
            </p:grpSpPr>
            <p:cxnSp>
              <p:nvCxnSpPr>
                <p:cNvPr id="91" name="Conector recto 90">
                  <a:extLst>
                    <a:ext uri="{FF2B5EF4-FFF2-40B4-BE49-F238E27FC236}">
                      <a16:creationId xmlns:a16="http://schemas.microsoft.com/office/drawing/2014/main" id="{9EFDBA7F-1786-4985-88E1-AA813AC137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59000" y="2491681"/>
                  <a:ext cx="87005" cy="87006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Conector recto 91">
                  <a:extLst>
                    <a:ext uri="{FF2B5EF4-FFF2-40B4-BE49-F238E27FC236}">
                      <a16:creationId xmlns:a16="http://schemas.microsoft.com/office/drawing/2014/main" id="{65610BAA-47A4-4B96-B706-C3C2A04A70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0349" y="2496145"/>
                  <a:ext cx="82540" cy="8254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67ECE692-EEDD-4ABE-AFBB-B9AECDD53A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7929" y="1675052"/>
              <a:ext cx="1825625" cy="16912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upo 95">
              <a:extLst>
                <a:ext uri="{FF2B5EF4-FFF2-40B4-BE49-F238E27FC236}">
                  <a16:creationId xmlns:a16="http://schemas.microsoft.com/office/drawing/2014/main" id="{89311C85-98E1-40B9-A43E-03A3406B621D}"/>
                </a:ext>
              </a:extLst>
            </p:cNvPr>
            <p:cNvGrpSpPr/>
            <p:nvPr/>
          </p:nvGrpSpPr>
          <p:grpSpPr>
            <a:xfrm rot="16200000">
              <a:off x="8286727" y="2779701"/>
              <a:ext cx="195138" cy="124175"/>
              <a:chOff x="5318438" y="3494091"/>
              <a:chExt cx="195138" cy="124175"/>
            </a:xfrm>
          </p:grpSpPr>
          <p:grpSp>
            <p:nvGrpSpPr>
              <p:cNvPr id="97" name="Grupo 96">
                <a:extLst>
                  <a:ext uri="{FF2B5EF4-FFF2-40B4-BE49-F238E27FC236}">
                    <a16:creationId xmlns:a16="http://schemas.microsoft.com/office/drawing/2014/main" id="{D972318E-680F-4347-BBAC-11E2015C279C}"/>
                  </a:ext>
                </a:extLst>
              </p:cNvPr>
              <p:cNvGrpSpPr/>
              <p:nvPr/>
            </p:nvGrpSpPr>
            <p:grpSpPr>
              <a:xfrm rot="2433111">
                <a:off x="5349687" y="3494091"/>
                <a:ext cx="163889" cy="87006"/>
                <a:chOff x="3659000" y="2491681"/>
                <a:chExt cx="163889" cy="87006"/>
              </a:xfrm>
            </p:grpSpPr>
            <p:cxnSp>
              <p:nvCxnSpPr>
                <p:cNvPr id="101" name="Conector recto 100">
                  <a:extLst>
                    <a:ext uri="{FF2B5EF4-FFF2-40B4-BE49-F238E27FC236}">
                      <a16:creationId xmlns:a16="http://schemas.microsoft.com/office/drawing/2014/main" id="{4C89D2B4-F026-4AB4-9053-0332358CF8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59000" y="2491681"/>
                  <a:ext cx="87005" cy="870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Conector recto 101">
                  <a:extLst>
                    <a:ext uri="{FF2B5EF4-FFF2-40B4-BE49-F238E27FC236}">
                      <a16:creationId xmlns:a16="http://schemas.microsoft.com/office/drawing/2014/main" id="{397ECDF9-64A3-42C4-AD5B-22798B6983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0349" y="2496145"/>
                  <a:ext cx="82540" cy="8254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" name="Grupo 97">
                <a:extLst>
                  <a:ext uri="{FF2B5EF4-FFF2-40B4-BE49-F238E27FC236}">
                    <a16:creationId xmlns:a16="http://schemas.microsoft.com/office/drawing/2014/main" id="{FDE6C7D1-4669-4FA7-9C54-E7C0FECF4977}"/>
                  </a:ext>
                </a:extLst>
              </p:cNvPr>
              <p:cNvGrpSpPr/>
              <p:nvPr/>
            </p:nvGrpSpPr>
            <p:grpSpPr>
              <a:xfrm rot="2330880">
                <a:off x="5318438" y="3531260"/>
                <a:ext cx="163889" cy="87006"/>
                <a:chOff x="3659000" y="2491681"/>
                <a:chExt cx="163889" cy="87006"/>
              </a:xfrm>
            </p:grpSpPr>
            <p:cxnSp>
              <p:nvCxnSpPr>
                <p:cNvPr id="99" name="Conector recto 98">
                  <a:extLst>
                    <a:ext uri="{FF2B5EF4-FFF2-40B4-BE49-F238E27FC236}">
                      <a16:creationId xmlns:a16="http://schemas.microsoft.com/office/drawing/2014/main" id="{09DD4D05-EF15-4EDF-B241-F412EC0193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59000" y="2491681"/>
                  <a:ext cx="87005" cy="870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Conector recto 99">
                  <a:extLst>
                    <a:ext uri="{FF2B5EF4-FFF2-40B4-BE49-F238E27FC236}">
                      <a16:creationId xmlns:a16="http://schemas.microsoft.com/office/drawing/2014/main" id="{FAD9F617-A9C4-4A77-BE8B-EA39558FD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0349" y="2496145"/>
                  <a:ext cx="82540" cy="8254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3" name="Grupo 102">
              <a:extLst>
                <a:ext uri="{FF2B5EF4-FFF2-40B4-BE49-F238E27FC236}">
                  <a16:creationId xmlns:a16="http://schemas.microsoft.com/office/drawing/2014/main" id="{02C6C4C6-5F63-4D50-B8CA-F84887B9742E}"/>
                </a:ext>
              </a:extLst>
            </p:cNvPr>
            <p:cNvGrpSpPr/>
            <p:nvPr/>
          </p:nvGrpSpPr>
          <p:grpSpPr>
            <a:xfrm rot="5192180">
              <a:off x="7516104" y="2081871"/>
              <a:ext cx="195138" cy="124175"/>
              <a:chOff x="5318438" y="3494091"/>
              <a:chExt cx="195138" cy="124175"/>
            </a:xfrm>
          </p:grpSpPr>
          <p:grpSp>
            <p:nvGrpSpPr>
              <p:cNvPr id="104" name="Grupo 103">
                <a:extLst>
                  <a:ext uri="{FF2B5EF4-FFF2-40B4-BE49-F238E27FC236}">
                    <a16:creationId xmlns:a16="http://schemas.microsoft.com/office/drawing/2014/main" id="{0ED76939-26E2-4955-A386-F9A7B8213E02}"/>
                  </a:ext>
                </a:extLst>
              </p:cNvPr>
              <p:cNvGrpSpPr/>
              <p:nvPr/>
            </p:nvGrpSpPr>
            <p:grpSpPr>
              <a:xfrm rot="2433111">
                <a:off x="5349687" y="3494091"/>
                <a:ext cx="163889" cy="87006"/>
                <a:chOff x="3659000" y="2491681"/>
                <a:chExt cx="163889" cy="87006"/>
              </a:xfrm>
            </p:grpSpPr>
            <p:cxnSp>
              <p:nvCxnSpPr>
                <p:cNvPr id="108" name="Conector recto 107">
                  <a:extLst>
                    <a:ext uri="{FF2B5EF4-FFF2-40B4-BE49-F238E27FC236}">
                      <a16:creationId xmlns:a16="http://schemas.microsoft.com/office/drawing/2014/main" id="{B158065D-93B5-4464-A346-7BF86433A9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59000" y="2491681"/>
                  <a:ext cx="87005" cy="870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Conector recto 108">
                  <a:extLst>
                    <a:ext uri="{FF2B5EF4-FFF2-40B4-BE49-F238E27FC236}">
                      <a16:creationId xmlns:a16="http://schemas.microsoft.com/office/drawing/2014/main" id="{83D4901B-4F54-413F-A912-0224E76B42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0349" y="2496145"/>
                  <a:ext cx="82540" cy="8254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5" name="Grupo 104">
                <a:extLst>
                  <a:ext uri="{FF2B5EF4-FFF2-40B4-BE49-F238E27FC236}">
                    <a16:creationId xmlns:a16="http://schemas.microsoft.com/office/drawing/2014/main" id="{A4FC913C-74F9-4C00-A7E9-ACC72D241110}"/>
                  </a:ext>
                </a:extLst>
              </p:cNvPr>
              <p:cNvGrpSpPr/>
              <p:nvPr/>
            </p:nvGrpSpPr>
            <p:grpSpPr>
              <a:xfrm rot="2330880">
                <a:off x="5318438" y="3531260"/>
                <a:ext cx="163889" cy="87006"/>
                <a:chOff x="3659000" y="2491681"/>
                <a:chExt cx="163889" cy="87006"/>
              </a:xfrm>
            </p:grpSpPr>
            <p:cxnSp>
              <p:nvCxnSpPr>
                <p:cNvPr id="106" name="Conector recto 105">
                  <a:extLst>
                    <a:ext uri="{FF2B5EF4-FFF2-40B4-BE49-F238E27FC236}">
                      <a16:creationId xmlns:a16="http://schemas.microsoft.com/office/drawing/2014/main" id="{3E06EAC5-57C1-422A-B61D-0BF1106AC9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59000" y="2491681"/>
                  <a:ext cx="87005" cy="8700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Conector recto 106">
                  <a:extLst>
                    <a:ext uri="{FF2B5EF4-FFF2-40B4-BE49-F238E27FC236}">
                      <a16:creationId xmlns:a16="http://schemas.microsoft.com/office/drawing/2014/main" id="{15E7495D-FDE6-479A-A463-BBC449BEAD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0349" y="2496145"/>
                  <a:ext cx="82540" cy="8254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4" name="Forma libre: forma 133">
              <a:extLst>
                <a:ext uri="{FF2B5EF4-FFF2-40B4-BE49-F238E27FC236}">
                  <a16:creationId xmlns:a16="http://schemas.microsoft.com/office/drawing/2014/main" id="{B4B8BE4B-9DD9-4253-88B1-F13E40E47EC7}"/>
                </a:ext>
              </a:extLst>
            </p:cNvPr>
            <p:cNvSpPr/>
            <p:nvPr/>
          </p:nvSpPr>
          <p:spPr>
            <a:xfrm>
              <a:off x="8121447" y="1602290"/>
              <a:ext cx="561217" cy="529093"/>
            </a:xfrm>
            <a:custGeom>
              <a:avLst/>
              <a:gdLst>
                <a:gd name="connsiteX0" fmla="*/ 0 w 691332"/>
                <a:gd name="connsiteY0" fmla="*/ 0 h 568325"/>
                <a:gd name="connsiteX1" fmla="*/ 682625 w 691332"/>
                <a:gd name="connsiteY1" fmla="*/ 111125 h 568325"/>
                <a:gd name="connsiteX2" fmla="*/ 323850 w 691332"/>
                <a:gd name="connsiteY2" fmla="*/ 568325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1332" h="568325">
                  <a:moveTo>
                    <a:pt x="0" y="0"/>
                  </a:moveTo>
                  <a:cubicBezTo>
                    <a:pt x="314325" y="8202"/>
                    <a:pt x="628650" y="16404"/>
                    <a:pt x="682625" y="111125"/>
                  </a:cubicBezTo>
                  <a:cubicBezTo>
                    <a:pt x="736600" y="205846"/>
                    <a:pt x="530225" y="387085"/>
                    <a:pt x="323850" y="568325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5" name="Forma libre: forma 134">
              <a:extLst>
                <a:ext uri="{FF2B5EF4-FFF2-40B4-BE49-F238E27FC236}">
                  <a16:creationId xmlns:a16="http://schemas.microsoft.com/office/drawing/2014/main" id="{38F5897D-B3C3-43B8-8FB7-ABB636FF1EF1}"/>
                </a:ext>
              </a:extLst>
            </p:cNvPr>
            <p:cNvSpPr/>
            <p:nvPr/>
          </p:nvSpPr>
          <p:spPr>
            <a:xfrm flipH="1" flipV="1">
              <a:off x="7384060" y="2899907"/>
              <a:ext cx="561217" cy="529093"/>
            </a:xfrm>
            <a:custGeom>
              <a:avLst/>
              <a:gdLst>
                <a:gd name="connsiteX0" fmla="*/ 0 w 691332"/>
                <a:gd name="connsiteY0" fmla="*/ 0 h 568325"/>
                <a:gd name="connsiteX1" fmla="*/ 682625 w 691332"/>
                <a:gd name="connsiteY1" fmla="*/ 111125 h 568325"/>
                <a:gd name="connsiteX2" fmla="*/ 323850 w 691332"/>
                <a:gd name="connsiteY2" fmla="*/ 568325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1332" h="568325">
                  <a:moveTo>
                    <a:pt x="0" y="0"/>
                  </a:moveTo>
                  <a:cubicBezTo>
                    <a:pt x="314325" y="8202"/>
                    <a:pt x="628650" y="16404"/>
                    <a:pt x="682625" y="111125"/>
                  </a:cubicBezTo>
                  <a:cubicBezTo>
                    <a:pt x="736600" y="205846"/>
                    <a:pt x="530225" y="387085"/>
                    <a:pt x="323850" y="568325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9B57880D-E377-498C-ACBA-6CFFEE0CD573}"/>
              </a:ext>
            </a:extLst>
          </p:cNvPr>
          <p:cNvSpPr txBox="1"/>
          <p:nvPr/>
        </p:nvSpPr>
        <p:spPr>
          <a:xfrm>
            <a:off x="5033831" y="966085"/>
            <a:ext cx="212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Agency FB" panose="020B0503020202020204" pitchFamily="34" charset="0"/>
              </a:rPr>
              <a:t>Eigenvectors</a:t>
            </a:r>
            <a:r>
              <a:rPr lang="es-ES" dirty="0">
                <a:latin typeface="Agency FB" panose="020B0503020202020204" pitchFamily="34" charset="0"/>
              </a:rPr>
              <a:t> </a:t>
            </a:r>
            <a:r>
              <a:rPr lang="es-ES" dirty="0" err="1">
                <a:latin typeface="Agency FB" panose="020B0503020202020204" pitchFamily="34" charset="0"/>
              </a:rPr>
              <a:t>orthogonality</a:t>
            </a:r>
            <a:endParaRPr lang="en-GB" dirty="0">
              <a:latin typeface="Agency FB" panose="020B0503020202020204" pitchFamily="34" charset="0"/>
            </a:endParaRPr>
          </a:p>
        </p:txBody>
      </p:sp>
      <p:pic>
        <p:nvPicPr>
          <p:cNvPr id="141" name="Imagen 140">
            <a:extLst>
              <a:ext uri="{FF2B5EF4-FFF2-40B4-BE49-F238E27FC236}">
                <a16:creationId xmlns:a16="http://schemas.microsoft.com/office/drawing/2014/main" id="{7F35B8AD-103D-44E7-856F-D14F6EBFD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913" y="920124"/>
            <a:ext cx="2328874" cy="290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53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5ACBE392-2116-4E49-B52E-4DAC536C5A5D}"/>
              </a:ext>
            </a:extLst>
          </p:cNvPr>
          <p:cNvGrpSpPr/>
          <p:nvPr/>
        </p:nvGrpSpPr>
        <p:grpSpPr>
          <a:xfrm>
            <a:off x="1659014" y="839221"/>
            <a:ext cx="2574945" cy="2743540"/>
            <a:chOff x="1659014" y="839221"/>
            <a:chExt cx="2574945" cy="2743540"/>
          </a:xfrm>
        </p:grpSpPr>
        <p:cxnSp>
          <p:nvCxnSpPr>
            <p:cNvPr id="69" name="Conector recto de flecha 68">
              <a:extLst>
                <a:ext uri="{FF2B5EF4-FFF2-40B4-BE49-F238E27FC236}">
                  <a16:creationId xmlns:a16="http://schemas.microsoft.com/office/drawing/2014/main" id="{71C6F3A3-5BE6-4E03-BB54-F56B30421747}"/>
                </a:ext>
              </a:extLst>
            </p:cNvPr>
            <p:cNvCxnSpPr>
              <a:cxnSpLocks/>
              <a:stCxn id="1026" idx="3"/>
              <a:endCxn id="1028" idx="2"/>
            </p:cNvCxnSpPr>
            <p:nvPr/>
          </p:nvCxnSpPr>
          <p:spPr>
            <a:xfrm flipV="1">
              <a:off x="2263131" y="1947863"/>
              <a:ext cx="756715" cy="12865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6" name="Picture 2" descr="Odocoileus virginianus">
              <a:extLst>
                <a:ext uri="{FF2B5EF4-FFF2-40B4-BE49-F238E27FC236}">
                  <a16:creationId xmlns:a16="http://schemas.microsoft.com/office/drawing/2014/main" id="{F26BD0AF-DFE4-4295-8060-D157ABE9D7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9014" y="2886075"/>
              <a:ext cx="604117" cy="6966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Lynx rufus">
              <a:extLst>
                <a:ext uri="{FF2B5EF4-FFF2-40B4-BE49-F238E27FC236}">
                  <a16:creationId xmlns:a16="http://schemas.microsoft.com/office/drawing/2014/main" id="{6B8ABEFD-DE41-4639-B43D-55591432A5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5046" y="1338263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Pelophylax ridibundus">
              <a:extLst>
                <a:ext uri="{FF2B5EF4-FFF2-40B4-BE49-F238E27FC236}">
                  <a16:creationId xmlns:a16="http://schemas.microsoft.com/office/drawing/2014/main" id="{D1D21653-24AF-4B40-BCA7-059EA1A6B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5046" y="2929618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Qiongthela bawang">
              <a:extLst>
                <a:ext uri="{FF2B5EF4-FFF2-40B4-BE49-F238E27FC236}">
                  <a16:creationId xmlns:a16="http://schemas.microsoft.com/office/drawing/2014/main" id="{38B16BA2-DC6A-4A65-8772-EAF491E764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618" y="2624818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Melospiza melodia">
              <a:extLst>
                <a:ext uri="{FF2B5EF4-FFF2-40B4-BE49-F238E27FC236}">
                  <a16:creationId xmlns:a16="http://schemas.microsoft.com/office/drawing/2014/main" id="{16107C82-A2AD-4FD2-AFE0-8842808152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2478" y="2205037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Cainochoerus africanus">
              <a:extLst>
                <a:ext uri="{FF2B5EF4-FFF2-40B4-BE49-F238E27FC236}">
                  <a16:creationId xmlns:a16="http://schemas.microsoft.com/office/drawing/2014/main" id="{C8C7CC36-A165-4835-BB48-2E3771926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4359" y="1643063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Megascops asio">
              <a:extLst>
                <a:ext uri="{FF2B5EF4-FFF2-40B4-BE49-F238E27FC236}">
                  <a16:creationId xmlns:a16="http://schemas.microsoft.com/office/drawing/2014/main" id="{B70BD1C6-6179-486F-99F2-B73BC63F7E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5733" y="1804987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F60597EB-62B8-4E7A-846E-1DA6C0B7EFA7}"/>
                </a:ext>
              </a:extLst>
            </p:cNvPr>
            <p:cNvCxnSpPr>
              <a:cxnSpLocks/>
              <a:stCxn id="1030" idx="1"/>
              <a:endCxn id="1038" idx="2"/>
            </p:cNvCxnSpPr>
            <p:nvPr/>
          </p:nvCxnSpPr>
          <p:spPr>
            <a:xfrm flipH="1" flipV="1">
              <a:off x="2110533" y="2414587"/>
              <a:ext cx="604513" cy="8198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de flecha 47">
              <a:extLst>
                <a:ext uri="{FF2B5EF4-FFF2-40B4-BE49-F238E27FC236}">
                  <a16:creationId xmlns:a16="http://schemas.microsoft.com/office/drawing/2014/main" id="{BDB4C027-4208-493B-8EF0-573403FBA3E9}"/>
                </a:ext>
              </a:extLst>
            </p:cNvPr>
            <p:cNvCxnSpPr>
              <a:cxnSpLocks/>
              <a:endCxn id="1028" idx="2"/>
            </p:cNvCxnSpPr>
            <p:nvPr/>
          </p:nvCxnSpPr>
          <p:spPr>
            <a:xfrm flipH="1" flipV="1">
              <a:off x="3019846" y="1947863"/>
              <a:ext cx="2544" cy="3048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B4B51109-07FA-4EEA-8974-EE2022B2CC14}"/>
                </a:ext>
              </a:extLst>
            </p:cNvPr>
            <p:cNvCxnSpPr>
              <a:cxnSpLocks/>
              <a:stCxn id="1036" idx="1"/>
              <a:endCxn id="1028" idx="3"/>
            </p:cNvCxnSpPr>
            <p:nvPr/>
          </p:nvCxnSpPr>
          <p:spPr>
            <a:xfrm flipH="1" flipV="1">
              <a:off x="3324646" y="1643063"/>
              <a:ext cx="299713" cy="3048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C0BE0AD9-8B7B-4B9B-B31F-BC3DA85D2B65}"/>
                </a:ext>
              </a:extLst>
            </p:cNvPr>
            <p:cNvCxnSpPr>
              <a:cxnSpLocks/>
              <a:stCxn id="1034" idx="1"/>
            </p:cNvCxnSpPr>
            <p:nvPr/>
          </p:nvCxnSpPr>
          <p:spPr>
            <a:xfrm flipH="1" flipV="1">
              <a:off x="2311730" y="2109787"/>
              <a:ext cx="200748" cy="4000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2F141009-27DC-427D-85A4-D7B349F9396E}"/>
                </a:ext>
              </a:extLst>
            </p:cNvPr>
            <p:cNvCxnSpPr>
              <a:cxnSpLocks/>
              <a:stCxn id="1032" idx="1"/>
              <a:endCxn id="1034" idx="3"/>
            </p:cNvCxnSpPr>
            <p:nvPr/>
          </p:nvCxnSpPr>
          <p:spPr>
            <a:xfrm flipH="1" flipV="1">
              <a:off x="3122078" y="2509837"/>
              <a:ext cx="499540" cy="4197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C82AE114-A278-4A83-9B8C-7AAEE08383A7}"/>
                </a:ext>
              </a:extLst>
            </p:cNvPr>
            <p:cNvCxnSpPr>
              <a:cxnSpLocks/>
              <a:stCxn id="1032" idx="0"/>
              <a:endCxn id="1036" idx="2"/>
            </p:cNvCxnSpPr>
            <p:nvPr/>
          </p:nvCxnSpPr>
          <p:spPr>
            <a:xfrm flipV="1">
              <a:off x="3926418" y="2252663"/>
              <a:ext cx="2741" cy="3721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de flecha 65">
              <a:extLst>
                <a:ext uri="{FF2B5EF4-FFF2-40B4-BE49-F238E27FC236}">
                  <a16:creationId xmlns:a16="http://schemas.microsoft.com/office/drawing/2014/main" id="{CB31299E-8261-4C81-966E-875EBCEC08AA}"/>
                </a:ext>
              </a:extLst>
            </p:cNvPr>
            <p:cNvCxnSpPr>
              <a:cxnSpLocks/>
              <a:stCxn id="1030" idx="3"/>
              <a:endCxn id="1032" idx="1"/>
            </p:cNvCxnSpPr>
            <p:nvPr/>
          </p:nvCxnSpPr>
          <p:spPr>
            <a:xfrm flipV="1">
              <a:off x="3324646" y="2929618"/>
              <a:ext cx="296972" cy="3048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71370478-2C8E-49F0-8632-1048F2C5E118}"/>
                </a:ext>
              </a:extLst>
            </p:cNvPr>
            <p:cNvSpPr txBox="1"/>
            <p:nvPr/>
          </p:nvSpPr>
          <p:spPr>
            <a:xfrm>
              <a:off x="1988408" y="839221"/>
              <a:ext cx="19161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latin typeface="Agency FB" panose="020B0503020202020204" pitchFamily="34" charset="0"/>
                </a:rPr>
                <a:t>The</a:t>
              </a:r>
              <a:r>
                <a:rPr lang="es-ES" dirty="0">
                  <a:latin typeface="Agency FB" panose="020B0503020202020204" pitchFamily="34" charset="0"/>
                </a:rPr>
                <a:t> </a:t>
              </a:r>
              <a:r>
                <a:rPr lang="es-ES" dirty="0" err="1">
                  <a:latin typeface="Agency FB" panose="020B0503020202020204" pitchFamily="34" charset="0"/>
                </a:rPr>
                <a:t>collective</a:t>
              </a:r>
              <a:r>
                <a:rPr lang="es-ES" dirty="0">
                  <a:latin typeface="Agency FB" panose="020B0503020202020204" pitchFamily="34" charset="0"/>
                </a:rPr>
                <a:t> </a:t>
              </a:r>
              <a:r>
                <a:rPr lang="es-ES" dirty="0" err="1">
                  <a:latin typeface="Agency FB" panose="020B0503020202020204" pitchFamily="34" charset="0"/>
                </a:rPr>
                <a:t>effects</a:t>
              </a:r>
              <a:r>
                <a:rPr lang="es-ES" dirty="0">
                  <a:latin typeface="Agency FB" panose="020B0503020202020204" pitchFamily="34" charset="0"/>
                </a:rPr>
                <a:t> </a:t>
              </a:r>
              <a:r>
                <a:rPr lang="es-ES" dirty="0" err="1">
                  <a:latin typeface="Agency FB" panose="020B0503020202020204" pitchFamily="34" charset="0"/>
                </a:rPr>
                <a:t>of</a:t>
              </a:r>
              <a:r>
                <a:rPr lang="es-ES" dirty="0">
                  <a:latin typeface="Agency FB" panose="020B0503020202020204" pitchFamily="34" charset="0"/>
                </a:rPr>
                <a:t> </a:t>
              </a:r>
              <a:r>
                <a:rPr lang="es-ES" dirty="0" err="1">
                  <a:latin typeface="Agency FB" panose="020B0503020202020204" pitchFamily="34" charset="0"/>
                </a:rPr>
                <a:t>the</a:t>
              </a:r>
              <a:r>
                <a:rPr lang="es-ES" dirty="0">
                  <a:latin typeface="Agency FB" panose="020B0503020202020204" pitchFamily="34" charset="0"/>
                </a:rPr>
                <a:t> </a:t>
              </a:r>
              <a:r>
                <a:rPr lang="es-ES" dirty="0" err="1">
                  <a:latin typeface="Agency FB" panose="020B0503020202020204" pitchFamily="34" charset="0"/>
                </a:rPr>
                <a:t>community</a:t>
              </a:r>
              <a:endParaRPr lang="en-GB" dirty="0">
                <a:latin typeface="Agency FB" panose="020B0503020202020204" pitchFamily="34" charset="0"/>
              </a:endParaRPr>
            </a:p>
          </p:txBody>
        </p:sp>
      </p:grpSp>
      <p:pic>
        <p:nvPicPr>
          <p:cNvPr id="34" name="Imagen 33">
            <a:extLst>
              <a:ext uri="{FF2B5EF4-FFF2-40B4-BE49-F238E27FC236}">
                <a16:creationId xmlns:a16="http://schemas.microsoft.com/office/drawing/2014/main" id="{B75CA6FA-80D0-4253-AC0C-76DE68B282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6584" y="2042040"/>
            <a:ext cx="2578832" cy="2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8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o 25">
            <a:extLst>
              <a:ext uri="{FF2B5EF4-FFF2-40B4-BE49-F238E27FC236}">
                <a16:creationId xmlns:a16="http://schemas.microsoft.com/office/drawing/2014/main" id="{FAC48899-5AF7-4F73-ABEE-81891A905EF5}"/>
              </a:ext>
            </a:extLst>
          </p:cNvPr>
          <p:cNvGrpSpPr/>
          <p:nvPr/>
        </p:nvGrpSpPr>
        <p:grpSpPr>
          <a:xfrm>
            <a:off x="992984" y="135491"/>
            <a:ext cx="9388025" cy="6659915"/>
            <a:chOff x="992984" y="135491"/>
            <a:chExt cx="9388025" cy="6659915"/>
          </a:xfrm>
        </p:grpSpPr>
        <p:sp>
          <p:nvSpPr>
            <p:cNvPr id="2" name="Triángulo isósceles 1">
              <a:extLst>
                <a:ext uri="{FF2B5EF4-FFF2-40B4-BE49-F238E27FC236}">
                  <a16:creationId xmlns:a16="http://schemas.microsoft.com/office/drawing/2014/main" id="{684D4E1C-F78F-4ACD-A729-DFAE76E329F0}"/>
                </a:ext>
              </a:extLst>
            </p:cNvPr>
            <p:cNvSpPr/>
            <p:nvPr/>
          </p:nvSpPr>
          <p:spPr>
            <a:xfrm flipV="1">
              <a:off x="992984" y="135491"/>
              <a:ext cx="2899557" cy="3038611"/>
            </a:xfrm>
            <a:prstGeom prst="triangle">
              <a:avLst/>
            </a:prstGeom>
            <a:solidFill>
              <a:srgbClr val="E7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89E9EEA0-25DB-4009-94AA-F61C9E2C706A}"/>
                </a:ext>
              </a:extLst>
            </p:cNvPr>
            <p:cNvSpPr/>
            <p:nvPr/>
          </p:nvSpPr>
          <p:spPr>
            <a:xfrm>
              <a:off x="3193592" y="136702"/>
              <a:ext cx="3974704" cy="1920698"/>
            </a:xfrm>
            <a:prstGeom prst="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5C7BDB92-DD9F-4888-8F54-25E82385E3A7}"/>
                </a:ext>
              </a:extLst>
            </p:cNvPr>
            <p:cNvSpPr txBox="1"/>
            <p:nvPr/>
          </p:nvSpPr>
          <p:spPr>
            <a:xfrm>
              <a:off x="3399293" y="6426074"/>
              <a:ext cx="5012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Time after perturbation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8D69DBB1-F7EB-420B-A99D-CBEE049AF9E7}"/>
                </a:ext>
              </a:extLst>
            </p:cNvPr>
            <p:cNvSpPr txBox="1"/>
            <p:nvPr/>
          </p:nvSpPr>
          <p:spPr>
            <a:xfrm rot="16200000">
              <a:off x="-298568" y="4030376"/>
              <a:ext cx="5012512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Recovery rate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0D8FC79-112C-4C4E-B428-2C71924CCCEF}"/>
                </a:ext>
              </a:extLst>
            </p:cNvPr>
            <p:cNvSpPr/>
            <p:nvPr/>
          </p:nvSpPr>
          <p:spPr>
            <a:xfrm>
              <a:off x="3180159" y="2025887"/>
              <a:ext cx="3974704" cy="4359255"/>
            </a:xfrm>
            <a:prstGeom prst="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F41BBEA-C4E7-4AEB-9DDE-2545B29465BB}"/>
                </a:ext>
              </a:extLst>
            </p:cNvPr>
            <p:cNvSpPr/>
            <p:nvPr/>
          </p:nvSpPr>
          <p:spPr>
            <a:xfrm>
              <a:off x="7154859" y="136702"/>
              <a:ext cx="2203454" cy="624604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55EB13A-01E3-4BA4-89C1-439AB68E978F}"/>
                </a:ext>
              </a:extLst>
            </p:cNvPr>
            <p:cNvSpPr/>
            <p:nvPr/>
          </p:nvSpPr>
          <p:spPr>
            <a:xfrm>
              <a:off x="6976546" y="136702"/>
              <a:ext cx="273160" cy="6246039"/>
            </a:xfrm>
            <a:prstGeom prst="rect">
              <a:avLst/>
            </a:prstGeom>
            <a:gradFill>
              <a:gsLst>
                <a:gs pos="100000">
                  <a:srgbClr val="E7E6E6"/>
                </a:gs>
                <a:gs pos="0">
                  <a:srgbClr val="DAE3F3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545691A5-A979-4B0D-9F5C-D85327773F04}"/>
                </a:ext>
              </a:extLst>
            </p:cNvPr>
            <p:cNvCxnSpPr>
              <a:cxnSpLocks/>
            </p:cNvCxnSpPr>
            <p:nvPr/>
          </p:nvCxnSpPr>
          <p:spPr>
            <a:xfrm>
              <a:off x="7154862" y="2025887"/>
              <a:ext cx="0" cy="435925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917A287-9C22-4432-900D-3ABF985B6669}"/>
                </a:ext>
              </a:extLst>
            </p:cNvPr>
            <p:cNvSpPr/>
            <p:nvPr/>
          </p:nvSpPr>
          <p:spPr>
            <a:xfrm>
              <a:off x="2452786" y="136701"/>
              <a:ext cx="727373" cy="6248441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823885D0-918E-402F-88A3-CCEC2846A6DE}"/>
                </a:ext>
              </a:extLst>
            </p:cNvPr>
            <p:cNvSpPr/>
            <p:nvPr/>
          </p:nvSpPr>
          <p:spPr>
            <a:xfrm>
              <a:off x="3084509" y="136701"/>
              <a:ext cx="190498" cy="6248442"/>
            </a:xfrm>
            <a:prstGeom prst="rect">
              <a:avLst/>
            </a:prstGeom>
            <a:gradFill>
              <a:gsLst>
                <a:gs pos="0">
                  <a:srgbClr val="E7E6E6"/>
                </a:gs>
                <a:gs pos="100000">
                  <a:srgbClr val="DAE3F3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10A6CAE4-90CF-4F9D-9BCB-4F727419A314}"/>
                </a:ext>
              </a:extLst>
            </p:cNvPr>
            <p:cNvSpPr/>
            <p:nvPr/>
          </p:nvSpPr>
          <p:spPr>
            <a:xfrm>
              <a:off x="2452786" y="2487670"/>
              <a:ext cx="6905526" cy="3205384"/>
            </a:xfrm>
            <a:custGeom>
              <a:avLst/>
              <a:gdLst>
                <a:gd name="connsiteX0" fmla="*/ 0 w 2617876"/>
                <a:gd name="connsiteY0" fmla="*/ 96526 h 1215157"/>
                <a:gd name="connsiteX1" fmla="*/ 1049007 w 2617876"/>
                <a:gd name="connsiteY1" fmla="*/ 87243 h 1215157"/>
                <a:gd name="connsiteX2" fmla="*/ 1582794 w 2617876"/>
                <a:gd name="connsiteY2" fmla="*/ 1024851 h 1215157"/>
                <a:gd name="connsiteX3" fmla="*/ 2617876 w 2617876"/>
                <a:gd name="connsiteY3" fmla="*/ 1215157 h 121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7876" h="1215157">
                  <a:moveTo>
                    <a:pt x="0" y="96526"/>
                  </a:moveTo>
                  <a:cubicBezTo>
                    <a:pt x="392604" y="14524"/>
                    <a:pt x="785208" y="-67478"/>
                    <a:pt x="1049007" y="87243"/>
                  </a:cubicBezTo>
                  <a:cubicBezTo>
                    <a:pt x="1312806" y="241964"/>
                    <a:pt x="1321316" y="836865"/>
                    <a:pt x="1582794" y="1024851"/>
                  </a:cubicBezTo>
                  <a:cubicBezTo>
                    <a:pt x="1844272" y="1212837"/>
                    <a:pt x="2231074" y="1213997"/>
                    <a:pt x="2617876" y="1215157"/>
                  </a:cubicBezTo>
                </a:path>
              </a:pathLst>
            </a:cu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46D378F3-205C-4218-BA9B-7687781CB1D8}"/>
                </a:ext>
              </a:extLst>
            </p:cNvPr>
            <p:cNvCxnSpPr>
              <a:cxnSpLocks/>
            </p:cNvCxnSpPr>
            <p:nvPr/>
          </p:nvCxnSpPr>
          <p:spPr>
            <a:xfrm>
              <a:off x="3180159" y="2025887"/>
              <a:ext cx="0" cy="435925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26FB16B9-0A06-4CBA-A2B5-AB508C6C87C9}"/>
                </a:ext>
              </a:extLst>
            </p:cNvPr>
            <p:cNvCxnSpPr>
              <a:cxnSpLocks/>
            </p:cNvCxnSpPr>
            <p:nvPr/>
          </p:nvCxnSpPr>
          <p:spPr>
            <a:xfrm>
              <a:off x="2452786" y="6382741"/>
              <a:ext cx="690552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1FE9E9BE-CDA6-417C-957B-82EDFBB65E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2786" y="2036614"/>
              <a:ext cx="0" cy="43568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0DCE258A-423F-4E3E-B65C-A346BF5BCDBE}"/>
                </a:ext>
              </a:extLst>
            </p:cNvPr>
            <p:cNvSpPr txBox="1"/>
            <p:nvPr/>
          </p:nvSpPr>
          <p:spPr>
            <a:xfrm>
              <a:off x="9295951" y="5411563"/>
              <a:ext cx="10850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Resilience max Real(</a:t>
              </a:r>
              <a:r>
                <a:rPr lang="el-GR" b="0" i="0" dirty="0">
                  <a:effectLst/>
                  <a:latin typeface="Google Sans"/>
                </a:rPr>
                <a:t>λ</a:t>
              </a:r>
              <a:r>
                <a:rPr lang="es-ES" b="0" i="0" dirty="0">
                  <a:effectLst/>
                  <a:latin typeface="Agency FB" panose="020B0503020202020204" pitchFamily="34" charset="0"/>
                </a:rPr>
                <a:t>)</a:t>
              </a:r>
              <a:endParaRPr lang="en-GB" dirty="0">
                <a:latin typeface="Agency FB" panose="020B0503020202020204" pitchFamily="34" charset="0"/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03F0DBD4-0DBE-4A5B-84DF-A11073FB68D2}"/>
                </a:ext>
              </a:extLst>
            </p:cNvPr>
            <p:cNvSpPr txBox="1"/>
            <p:nvPr/>
          </p:nvSpPr>
          <p:spPr>
            <a:xfrm>
              <a:off x="1460788" y="136702"/>
              <a:ext cx="1348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Short term 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3A354F76-A9B4-4B07-B841-8900907449A0}"/>
                </a:ext>
              </a:extLst>
            </p:cNvPr>
            <p:cNvSpPr txBox="1"/>
            <p:nvPr/>
          </p:nvSpPr>
          <p:spPr>
            <a:xfrm>
              <a:off x="7595431" y="136889"/>
              <a:ext cx="1322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Long term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E9F883-7AE2-4351-83CC-B06D83690AB1}"/>
                </a:ext>
              </a:extLst>
            </p:cNvPr>
            <p:cNvSpPr txBox="1"/>
            <p:nvPr/>
          </p:nvSpPr>
          <p:spPr>
            <a:xfrm>
              <a:off x="4506356" y="136702"/>
              <a:ext cx="1322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gency FB" panose="020B0503020202020204" pitchFamily="34" charset="0"/>
                </a:rPr>
                <a:t>Mid term</a:t>
              </a:r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73E0AECE-C9F0-4278-AF47-C9E476A5FF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54859" y="136702"/>
              <a:ext cx="1" cy="18867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C3537865-51B7-4CD1-B882-5F7FEF1EBCAF}"/>
                </a:ext>
              </a:extLst>
            </p:cNvPr>
            <p:cNvCxnSpPr>
              <a:cxnSpLocks/>
            </p:cNvCxnSpPr>
            <p:nvPr/>
          </p:nvCxnSpPr>
          <p:spPr>
            <a:xfrm>
              <a:off x="2452786" y="5735273"/>
              <a:ext cx="6905526" cy="0"/>
            </a:xfrm>
            <a:prstGeom prst="line">
              <a:avLst/>
            </a:prstGeom>
            <a:ln w="19050">
              <a:gradFill flip="none" rotWithShape="1">
                <a:gsLst>
                  <a:gs pos="100000">
                    <a:schemeClr val="tx1"/>
                  </a:gs>
                  <a:gs pos="33000">
                    <a:srgbClr val="FFFFFF">
                      <a:alpha val="0"/>
                    </a:srgbClr>
                  </a:gs>
                </a:gsLst>
                <a:lin ang="0" scaled="1"/>
                <a:tileRect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C556CB2C-08B3-4D67-BB28-5CA43BFD571B}"/>
                </a:ext>
              </a:extLst>
            </p:cNvPr>
            <p:cNvCxnSpPr>
              <a:cxnSpLocks/>
              <a:stCxn id="2" idx="0"/>
              <a:endCxn id="2" idx="2"/>
            </p:cNvCxnSpPr>
            <p:nvPr/>
          </p:nvCxnSpPr>
          <p:spPr>
            <a:xfrm flipH="1" flipV="1">
              <a:off x="992984" y="135491"/>
              <a:ext cx="1449779" cy="30386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133B9728-D984-4708-AD7C-3FF4B89B2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0158" y="136702"/>
              <a:ext cx="0" cy="18867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36FF907E-ECC8-48F8-A322-625CBFE43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0365" y="602407"/>
              <a:ext cx="1373680" cy="1310719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CE26E9A9-5993-4097-83CB-ADDCD0D0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0635" y="547153"/>
              <a:ext cx="1851902" cy="1421227"/>
            </a:xfrm>
            <a:prstGeom prst="rect">
              <a:avLst/>
            </a:prstGeom>
          </p:spPr>
        </p:pic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1E5EAD60-FBD9-4AD3-9E61-15D439A17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429" y="397619"/>
            <a:ext cx="9425233" cy="678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04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8D29034D-C5BC-41A3-AA85-1FB9B5535CA0}"/>
              </a:ext>
            </a:extLst>
          </p:cNvPr>
          <p:cNvSpPr/>
          <p:nvPr/>
        </p:nvSpPr>
        <p:spPr>
          <a:xfrm>
            <a:off x="2452786" y="136701"/>
            <a:ext cx="727373" cy="6248441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C840357-8749-4AE9-B3AB-1D173013F712}"/>
              </a:ext>
            </a:extLst>
          </p:cNvPr>
          <p:cNvSpPr/>
          <p:nvPr/>
        </p:nvSpPr>
        <p:spPr>
          <a:xfrm>
            <a:off x="2452786" y="136701"/>
            <a:ext cx="352835" cy="6248441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ED88A3D-8727-4F58-A98A-5C2CA7AE6EEE}"/>
              </a:ext>
            </a:extLst>
          </p:cNvPr>
          <p:cNvSpPr/>
          <p:nvPr/>
        </p:nvSpPr>
        <p:spPr>
          <a:xfrm>
            <a:off x="7154859" y="136702"/>
            <a:ext cx="2203454" cy="62460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2272C80-B349-42EE-B698-3CA4517DA0D1}"/>
              </a:ext>
            </a:extLst>
          </p:cNvPr>
          <p:cNvSpPr/>
          <p:nvPr/>
        </p:nvSpPr>
        <p:spPr>
          <a:xfrm>
            <a:off x="3179758" y="2033023"/>
            <a:ext cx="3974704" cy="4359255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3" name="Triángulo isósceles 102">
            <a:extLst>
              <a:ext uri="{FF2B5EF4-FFF2-40B4-BE49-F238E27FC236}">
                <a16:creationId xmlns:a16="http://schemas.microsoft.com/office/drawing/2014/main" id="{19549F7C-A74C-40A2-B8A5-2227BEAFBD93}"/>
              </a:ext>
            </a:extLst>
          </p:cNvPr>
          <p:cNvSpPr/>
          <p:nvPr/>
        </p:nvSpPr>
        <p:spPr>
          <a:xfrm flipV="1">
            <a:off x="992984" y="135491"/>
            <a:ext cx="2899557" cy="3038611"/>
          </a:xfrm>
          <a:prstGeom prst="triangle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3B58E9C2-A513-434A-8AD3-A053492015C8}"/>
              </a:ext>
            </a:extLst>
          </p:cNvPr>
          <p:cNvSpPr/>
          <p:nvPr/>
        </p:nvSpPr>
        <p:spPr>
          <a:xfrm>
            <a:off x="3193592" y="136702"/>
            <a:ext cx="3974704" cy="1920698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E1935BF-C71D-4DEA-98A9-34436782AA7D}"/>
              </a:ext>
            </a:extLst>
          </p:cNvPr>
          <p:cNvSpPr txBox="1"/>
          <p:nvPr/>
        </p:nvSpPr>
        <p:spPr>
          <a:xfrm>
            <a:off x="3399293" y="6426074"/>
            <a:ext cx="501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Time after perturbation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6214B8-411B-4C28-8935-98578AB2FF83}"/>
              </a:ext>
            </a:extLst>
          </p:cNvPr>
          <p:cNvSpPr txBox="1"/>
          <p:nvPr/>
        </p:nvSpPr>
        <p:spPr>
          <a:xfrm rot="16200000">
            <a:off x="-302976" y="4030377"/>
            <a:ext cx="501251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Agency FB" panose="020B0503020202020204" pitchFamily="34" charset="0"/>
              </a:rPr>
              <a:t>Δ</a:t>
            </a:r>
            <a:r>
              <a:rPr lang="es-ES" dirty="0">
                <a:latin typeface="Agency FB" panose="020B0503020202020204" pitchFamily="34" charset="0"/>
              </a:rPr>
              <a:t> Recovery Rate</a:t>
            </a:r>
            <a:endParaRPr lang="en-GB" dirty="0">
              <a:latin typeface="Agency FB" panose="020B0503020202020204" pitchFamily="34" charset="0"/>
            </a:endParaRP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6925BA77-C96F-4355-9874-5F45EB60E665}"/>
              </a:ext>
            </a:extLst>
          </p:cNvPr>
          <p:cNvSpPr/>
          <p:nvPr/>
        </p:nvSpPr>
        <p:spPr>
          <a:xfrm>
            <a:off x="7016631" y="136702"/>
            <a:ext cx="273160" cy="6246039"/>
          </a:xfrm>
          <a:prstGeom prst="rect">
            <a:avLst/>
          </a:prstGeom>
          <a:gradFill>
            <a:gsLst>
              <a:gs pos="100000">
                <a:srgbClr val="E7E6E6"/>
              </a:gs>
              <a:gs pos="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F2F193D-C944-4753-B8DD-3BE193EE6B77}"/>
              </a:ext>
            </a:extLst>
          </p:cNvPr>
          <p:cNvCxnSpPr>
            <a:cxnSpLocks/>
            <a:stCxn id="101" idx="0"/>
          </p:cNvCxnSpPr>
          <p:nvPr/>
        </p:nvCxnSpPr>
        <p:spPr>
          <a:xfrm>
            <a:off x="7153211" y="136702"/>
            <a:ext cx="1651" cy="624843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85732E3A-488B-46FD-A7E9-DA9F6DFACF26}"/>
              </a:ext>
            </a:extLst>
          </p:cNvPr>
          <p:cNvSpPr/>
          <p:nvPr/>
        </p:nvSpPr>
        <p:spPr>
          <a:xfrm>
            <a:off x="3084509" y="136701"/>
            <a:ext cx="190498" cy="6248442"/>
          </a:xfrm>
          <a:prstGeom prst="rect">
            <a:avLst/>
          </a:prstGeom>
          <a:gradFill>
            <a:gsLst>
              <a:gs pos="0">
                <a:srgbClr val="E7E6E6"/>
              </a:gs>
              <a:gs pos="10000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D1A126F-809E-4F45-9EE1-A3C5046FB757}"/>
              </a:ext>
            </a:extLst>
          </p:cNvPr>
          <p:cNvCxnSpPr>
            <a:cxnSpLocks/>
            <a:stCxn id="100" idx="0"/>
          </p:cNvCxnSpPr>
          <p:nvPr/>
        </p:nvCxnSpPr>
        <p:spPr>
          <a:xfrm>
            <a:off x="3179758" y="136701"/>
            <a:ext cx="401" cy="624844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DF07D025-F99D-4AB1-BA1F-641E4191D295}"/>
              </a:ext>
            </a:extLst>
          </p:cNvPr>
          <p:cNvSpPr txBox="1"/>
          <p:nvPr/>
        </p:nvSpPr>
        <p:spPr>
          <a:xfrm>
            <a:off x="7595431" y="136889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Long term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0B72408-D0FF-4FAB-8F2B-2162FE6F700E}"/>
              </a:ext>
            </a:extLst>
          </p:cNvPr>
          <p:cNvSpPr txBox="1"/>
          <p:nvPr/>
        </p:nvSpPr>
        <p:spPr>
          <a:xfrm>
            <a:off x="4506356" y="136702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Mid term</a:t>
            </a: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F33255C-BF57-4EC0-816C-6721362A8C3F}"/>
              </a:ext>
            </a:extLst>
          </p:cNvPr>
          <p:cNvCxnSpPr>
            <a:cxnSpLocks/>
            <a:stCxn id="103" idx="0"/>
            <a:endCxn id="103" idx="2"/>
          </p:cNvCxnSpPr>
          <p:nvPr/>
        </p:nvCxnSpPr>
        <p:spPr>
          <a:xfrm flipH="1" flipV="1">
            <a:off x="992984" y="135491"/>
            <a:ext cx="1449779" cy="30386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Imagen 128">
            <a:extLst>
              <a:ext uri="{FF2B5EF4-FFF2-40B4-BE49-F238E27FC236}">
                <a16:creationId xmlns:a16="http://schemas.microsoft.com/office/drawing/2014/main" id="{206A6052-67E6-49EB-B430-34053494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635" y="547153"/>
            <a:ext cx="1851902" cy="1421227"/>
          </a:xfrm>
          <a:prstGeom prst="rect">
            <a:avLst/>
          </a:prstGeom>
        </p:spPr>
      </p:pic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0BD4BD7B-6031-4AFA-B0C4-ED044F18B008}"/>
              </a:ext>
            </a:extLst>
          </p:cNvPr>
          <p:cNvSpPr/>
          <p:nvPr/>
        </p:nvSpPr>
        <p:spPr>
          <a:xfrm>
            <a:off x="2457847" y="3430173"/>
            <a:ext cx="6898482" cy="2934005"/>
          </a:xfrm>
          <a:custGeom>
            <a:avLst/>
            <a:gdLst>
              <a:gd name="connsiteX0" fmla="*/ 0 w 6896100"/>
              <a:gd name="connsiteY0" fmla="*/ 2093938 h 2261486"/>
              <a:gd name="connsiteX1" fmla="*/ 685800 w 6896100"/>
              <a:gd name="connsiteY1" fmla="*/ 2055838 h 2261486"/>
              <a:gd name="connsiteX2" fmla="*/ 2292350 w 6896100"/>
              <a:gd name="connsiteY2" fmla="*/ 52413 h 2261486"/>
              <a:gd name="connsiteX3" fmla="*/ 4899025 w 6896100"/>
              <a:gd name="connsiteY3" fmla="*/ 592163 h 2261486"/>
              <a:gd name="connsiteX4" fmla="*/ 6896100 w 6896100"/>
              <a:gd name="connsiteY4" fmla="*/ 668363 h 2261486"/>
              <a:gd name="connsiteX0" fmla="*/ 0 w 6892528"/>
              <a:gd name="connsiteY0" fmla="*/ 2260772 h 2359906"/>
              <a:gd name="connsiteX1" fmla="*/ 682228 w 6892528"/>
              <a:gd name="connsiteY1" fmla="*/ 2055838 h 2359906"/>
              <a:gd name="connsiteX2" fmla="*/ 2288778 w 6892528"/>
              <a:gd name="connsiteY2" fmla="*/ 52413 h 2359906"/>
              <a:gd name="connsiteX3" fmla="*/ 4895453 w 6892528"/>
              <a:gd name="connsiteY3" fmla="*/ 592163 h 2359906"/>
              <a:gd name="connsiteX4" fmla="*/ 6892528 w 6892528"/>
              <a:gd name="connsiteY4" fmla="*/ 668363 h 2359906"/>
              <a:gd name="connsiteX0" fmla="*/ 0 w 6892528"/>
              <a:gd name="connsiteY0" fmla="*/ 2260772 h 2295126"/>
              <a:gd name="connsiteX1" fmla="*/ 682228 w 6892528"/>
              <a:gd name="connsiteY1" fmla="*/ 2055838 h 2295126"/>
              <a:gd name="connsiteX2" fmla="*/ 2288778 w 6892528"/>
              <a:gd name="connsiteY2" fmla="*/ 52413 h 2295126"/>
              <a:gd name="connsiteX3" fmla="*/ 4895453 w 6892528"/>
              <a:gd name="connsiteY3" fmla="*/ 592163 h 2295126"/>
              <a:gd name="connsiteX4" fmla="*/ 6892528 w 6892528"/>
              <a:gd name="connsiteY4" fmla="*/ 668363 h 2295126"/>
              <a:gd name="connsiteX0" fmla="*/ 0 w 6892528"/>
              <a:gd name="connsiteY0" fmla="*/ 2260772 h 2274615"/>
              <a:gd name="connsiteX1" fmla="*/ 682228 w 6892528"/>
              <a:gd name="connsiteY1" fmla="*/ 2055838 h 2274615"/>
              <a:gd name="connsiteX2" fmla="*/ 2288778 w 6892528"/>
              <a:gd name="connsiteY2" fmla="*/ 52413 h 2274615"/>
              <a:gd name="connsiteX3" fmla="*/ 4895453 w 6892528"/>
              <a:gd name="connsiteY3" fmla="*/ 592163 h 2274615"/>
              <a:gd name="connsiteX4" fmla="*/ 6892528 w 6892528"/>
              <a:gd name="connsiteY4" fmla="*/ 668363 h 2274615"/>
              <a:gd name="connsiteX0" fmla="*/ 0 w 6892528"/>
              <a:gd name="connsiteY0" fmla="*/ 2260772 h 2264560"/>
              <a:gd name="connsiteX1" fmla="*/ 682228 w 6892528"/>
              <a:gd name="connsiteY1" fmla="*/ 2055838 h 2264560"/>
              <a:gd name="connsiteX2" fmla="*/ 2288778 w 6892528"/>
              <a:gd name="connsiteY2" fmla="*/ 52413 h 2264560"/>
              <a:gd name="connsiteX3" fmla="*/ 4895453 w 6892528"/>
              <a:gd name="connsiteY3" fmla="*/ 592163 h 2264560"/>
              <a:gd name="connsiteX4" fmla="*/ 6892528 w 6892528"/>
              <a:gd name="connsiteY4" fmla="*/ 668363 h 2264560"/>
              <a:gd name="connsiteX0" fmla="*/ 0 w 6892528"/>
              <a:gd name="connsiteY0" fmla="*/ 2260772 h 2260772"/>
              <a:gd name="connsiteX1" fmla="*/ 682228 w 6892528"/>
              <a:gd name="connsiteY1" fmla="*/ 2055838 h 2260772"/>
              <a:gd name="connsiteX2" fmla="*/ 2288778 w 6892528"/>
              <a:gd name="connsiteY2" fmla="*/ 52413 h 2260772"/>
              <a:gd name="connsiteX3" fmla="*/ 4895453 w 6892528"/>
              <a:gd name="connsiteY3" fmla="*/ 592163 h 2260772"/>
              <a:gd name="connsiteX4" fmla="*/ 6892528 w 6892528"/>
              <a:gd name="connsiteY4" fmla="*/ 668363 h 2260772"/>
              <a:gd name="connsiteX0" fmla="*/ 0 w 6892528"/>
              <a:gd name="connsiteY0" fmla="*/ 2216709 h 2216709"/>
              <a:gd name="connsiteX1" fmla="*/ 682228 w 6892528"/>
              <a:gd name="connsiteY1" fmla="*/ 2011775 h 2216709"/>
              <a:gd name="connsiteX2" fmla="*/ 2288778 w 6892528"/>
              <a:gd name="connsiteY2" fmla="*/ 8350 h 2216709"/>
              <a:gd name="connsiteX3" fmla="*/ 4881165 w 6892528"/>
              <a:gd name="connsiteY3" fmla="*/ 1271335 h 2216709"/>
              <a:gd name="connsiteX4" fmla="*/ 6892528 w 6892528"/>
              <a:gd name="connsiteY4" fmla="*/ 624300 h 2216709"/>
              <a:gd name="connsiteX0" fmla="*/ 0 w 6898482"/>
              <a:gd name="connsiteY0" fmla="*/ 2216709 h 2216709"/>
              <a:gd name="connsiteX1" fmla="*/ 682228 w 6898482"/>
              <a:gd name="connsiteY1" fmla="*/ 2011775 h 2216709"/>
              <a:gd name="connsiteX2" fmla="*/ 2288778 w 6898482"/>
              <a:gd name="connsiteY2" fmla="*/ 8350 h 2216709"/>
              <a:gd name="connsiteX3" fmla="*/ 4881165 w 6898482"/>
              <a:gd name="connsiteY3" fmla="*/ 1271335 h 2216709"/>
              <a:gd name="connsiteX4" fmla="*/ 6898482 w 6898482"/>
              <a:gd name="connsiteY4" fmla="*/ 1330442 h 221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8482" h="2216709">
                <a:moveTo>
                  <a:pt x="0" y="2216709"/>
                </a:moveTo>
                <a:cubicBezTo>
                  <a:pt x="405475" y="2112400"/>
                  <a:pt x="300765" y="2379835"/>
                  <a:pt x="682228" y="2011775"/>
                </a:cubicBezTo>
                <a:cubicBezTo>
                  <a:pt x="1063691" y="1643715"/>
                  <a:pt x="1588955" y="131757"/>
                  <a:pt x="2288778" y="8350"/>
                </a:cubicBezTo>
                <a:cubicBezTo>
                  <a:pt x="2988601" y="-115057"/>
                  <a:pt x="4113873" y="1168677"/>
                  <a:pt x="4881165" y="1271335"/>
                </a:cubicBezTo>
                <a:cubicBezTo>
                  <a:pt x="5648457" y="1373993"/>
                  <a:pt x="6573574" y="1322505"/>
                  <a:pt x="6898482" y="1330442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7799896-4DA9-4D01-93EE-1CC8FAB97B15}"/>
              </a:ext>
            </a:extLst>
          </p:cNvPr>
          <p:cNvSpPr/>
          <p:nvPr/>
        </p:nvSpPr>
        <p:spPr>
          <a:xfrm>
            <a:off x="2452787" y="136702"/>
            <a:ext cx="363686" cy="6248441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4F8EABB-B208-4294-99B8-21DEBE7E9504}"/>
              </a:ext>
            </a:extLst>
          </p:cNvPr>
          <p:cNvCxnSpPr>
            <a:cxnSpLocks/>
          </p:cNvCxnSpPr>
          <p:nvPr/>
        </p:nvCxnSpPr>
        <p:spPr>
          <a:xfrm>
            <a:off x="2442762" y="6362192"/>
            <a:ext cx="394497" cy="0"/>
          </a:xfrm>
          <a:prstGeom prst="line">
            <a:avLst/>
          </a:prstGeom>
          <a:ln w="571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011CCC34-8F3B-4782-AD1B-1ABDC02EF4E0}"/>
              </a:ext>
            </a:extLst>
          </p:cNvPr>
          <p:cNvCxnSpPr>
            <a:cxnSpLocks/>
          </p:cNvCxnSpPr>
          <p:nvPr/>
        </p:nvCxnSpPr>
        <p:spPr>
          <a:xfrm flipV="1">
            <a:off x="2452786" y="2035423"/>
            <a:ext cx="0" cy="4356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B433E40-BA57-4774-B3AA-C9D7572F045A}"/>
              </a:ext>
            </a:extLst>
          </p:cNvPr>
          <p:cNvCxnSpPr>
            <a:cxnSpLocks/>
          </p:cNvCxnSpPr>
          <p:nvPr/>
        </p:nvCxnSpPr>
        <p:spPr>
          <a:xfrm>
            <a:off x="2452786" y="6382741"/>
            <a:ext cx="69055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>
            <a:extLst>
              <a:ext uri="{FF2B5EF4-FFF2-40B4-BE49-F238E27FC236}">
                <a16:creationId xmlns:a16="http://schemas.microsoft.com/office/drawing/2014/main" id="{830BC024-84C2-42BE-9DBE-EFB77DC98094}"/>
              </a:ext>
            </a:extLst>
          </p:cNvPr>
          <p:cNvSpPr txBox="1"/>
          <p:nvPr/>
        </p:nvSpPr>
        <p:spPr>
          <a:xfrm>
            <a:off x="1460788" y="136702"/>
            <a:ext cx="134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Short term </a:t>
            </a:r>
          </a:p>
        </p:txBody>
      </p:sp>
    </p:spTree>
    <p:extLst>
      <p:ext uri="{BB962C8B-B14F-4D97-AF65-F5344CB8AC3E}">
        <p14:creationId xmlns:p14="http://schemas.microsoft.com/office/powerpoint/2010/main" val="1774786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8D29034D-C5BC-41A3-AA85-1FB9B5535CA0}"/>
              </a:ext>
            </a:extLst>
          </p:cNvPr>
          <p:cNvSpPr/>
          <p:nvPr/>
        </p:nvSpPr>
        <p:spPr>
          <a:xfrm>
            <a:off x="2400398" y="1974538"/>
            <a:ext cx="705669" cy="3196167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C840357-8749-4AE9-B3AB-1D173013F712}"/>
              </a:ext>
            </a:extLst>
          </p:cNvPr>
          <p:cNvSpPr/>
          <p:nvPr/>
        </p:nvSpPr>
        <p:spPr>
          <a:xfrm>
            <a:off x="2400398" y="1976301"/>
            <a:ext cx="352835" cy="3194403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ED88A3D-8727-4F58-A98A-5C2CA7AE6EEE}"/>
              </a:ext>
            </a:extLst>
          </p:cNvPr>
          <p:cNvSpPr/>
          <p:nvPr/>
        </p:nvSpPr>
        <p:spPr>
          <a:xfrm>
            <a:off x="7102471" y="1973901"/>
            <a:ext cx="2203454" cy="319440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2272C80-B349-42EE-B698-3CA4517DA0D1}"/>
              </a:ext>
            </a:extLst>
          </p:cNvPr>
          <p:cNvSpPr/>
          <p:nvPr/>
        </p:nvSpPr>
        <p:spPr>
          <a:xfrm>
            <a:off x="3127771" y="1984153"/>
            <a:ext cx="3974704" cy="3201403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E1935BF-C71D-4DEA-98A9-34436782AA7D}"/>
              </a:ext>
            </a:extLst>
          </p:cNvPr>
          <p:cNvSpPr txBox="1"/>
          <p:nvPr/>
        </p:nvSpPr>
        <p:spPr>
          <a:xfrm>
            <a:off x="3346905" y="5211637"/>
            <a:ext cx="501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Time after perturbation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6214B8-411B-4C28-8935-98578AB2FF83}"/>
              </a:ext>
            </a:extLst>
          </p:cNvPr>
          <p:cNvSpPr txBox="1"/>
          <p:nvPr/>
        </p:nvSpPr>
        <p:spPr>
          <a:xfrm rot="16200000">
            <a:off x="928931" y="3391205"/>
            <a:ext cx="2547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Agency FB" panose="020B0503020202020204" pitchFamily="34" charset="0"/>
              </a:rPr>
              <a:t>Sensitivity</a:t>
            </a:r>
            <a:r>
              <a:rPr lang="es-ES" dirty="0">
                <a:latin typeface="Agency FB" panose="020B0503020202020204" pitchFamily="34" charset="0"/>
              </a:rPr>
              <a:t> </a:t>
            </a:r>
            <a:r>
              <a:rPr lang="es-ES" dirty="0" err="1">
                <a:latin typeface="Agency FB" panose="020B0503020202020204" pitchFamily="34" charset="0"/>
              </a:rPr>
              <a:t>To</a:t>
            </a:r>
            <a:r>
              <a:rPr lang="es-ES" dirty="0">
                <a:latin typeface="Agency FB" panose="020B0503020202020204" pitchFamily="34" charset="0"/>
              </a:rPr>
              <a:t> </a:t>
            </a:r>
            <a:r>
              <a:rPr lang="es-ES" dirty="0" err="1">
                <a:latin typeface="Agency FB" panose="020B0503020202020204" pitchFamily="34" charset="0"/>
              </a:rPr>
              <a:t>Structural</a:t>
            </a:r>
            <a:r>
              <a:rPr lang="es-ES" dirty="0">
                <a:latin typeface="Agency FB" panose="020B0503020202020204" pitchFamily="34" charset="0"/>
              </a:rPr>
              <a:t> Change</a:t>
            </a:r>
            <a:endParaRPr lang="en-GB" dirty="0">
              <a:latin typeface="Agency FB" panose="020B0503020202020204" pitchFamily="34" charset="0"/>
            </a:endParaRP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6925BA77-C96F-4355-9874-5F45EB60E665}"/>
              </a:ext>
            </a:extLst>
          </p:cNvPr>
          <p:cNvSpPr/>
          <p:nvPr/>
        </p:nvSpPr>
        <p:spPr>
          <a:xfrm>
            <a:off x="6964243" y="1973902"/>
            <a:ext cx="273160" cy="3194402"/>
          </a:xfrm>
          <a:prstGeom prst="rect">
            <a:avLst/>
          </a:prstGeom>
          <a:gradFill>
            <a:gsLst>
              <a:gs pos="100000">
                <a:srgbClr val="E7E6E6"/>
              </a:gs>
              <a:gs pos="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F2F193D-C944-4753-B8DD-3BE193EE6B77}"/>
              </a:ext>
            </a:extLst>
          </p:cNvPr>
          <p:cNvCxnSpPr>
            <a:cxnSpLocks/>
            <a:stCxn id="101" idx="0"/>
          </p:cNvCxnSpPr>
          <p:nvPr/>
        </p:nvCxnSpPr>
        <p:spPr>
          <a:xfrm>
            <a:off x="7100823" y="1973902"/>
            <a:ext cx="1651" cy="319680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85732E3A-488B-46FD-A7E9-DA9F6DFACF26}"/>
              </a:ext>
            </a:extLst>
          </p:cNvPr>
          <p:cNvSpPr/>
          <p:nvPr/>
        </p:nvSpPr>
        <p:spPr>
          <a:xfrm>
            <a:off x="3032121" y="1974539"/>
            <a:ext cx="190498" cy="3196166"/>
          </a:xfrm>
          <a:prstGeom prst="rect">
            <a:avLst/>
          </a:prstGeom>
          <a:gradFill>
            <a:gsLst>
              <a:gs pos="0">
                <a:srgbClr val="E7E6E6"/>
              </a:gs>
              <a:gs pos="100000">
                <a:srgbClr val="DAE3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D1A126F-809E-4F45-9EE1-A3C5046FB757}"/>
              </a:ext>
            </a:extLst>
          </p:cNvPr>
          <p:cNvCxnSpPr>
            <a:cxnSpLocks/>
          </p:cNvCxnSpPr>
          <p:nvPr/>
        </p:nvCxnSpPr>
        <p:spPr>
          <a:xfrm flipH="1">
            <a:off x="3127771" y="1976302"/>
            <a:ext cx="201" cy="319440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DF07D025-F99D-4AB1-BA1F-641E4191D295}"/>
              </a:ext>
            </a:extLst>
          </p:cNvPr>
          <p:cNvSpPr txBox="1"/>
          <p:nvPr/>
        </p:nvSpPr>
        <p:spPr>
          <a:xfrm>
            <a:off x="7595431" y="136889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Long term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0B72408-D0FF-4FAB-8F2B-2162FE6F700E}"/>
              </a:ext>
            </a:extLst>
          </p:cNvPr>
          <p:cNvSpPr txBox="1"/>
          <p:nvPr/>
        </p:nvSpPr>
        <p:spPr>
          <a:xfrm>
            <a:off x="4506356" y="136702"/>
            <a:ext cx="132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Mid term</a:t>
            </a:r>
          </a:p>
        </p:txBody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EB5EAC17-266E-40FD-B953-0126AEEA002B}"/>
              </a:ext>
            </a:extLst>
          </p:cNvPr>
          <p:cNvSpPr/>
          <p:nvPr/>
        </p:nvSpPr>
        <p:spPr>
          <a:xfrm>
            <a:off x="3524250" y="2209800"/>
            <a:ext cx="4898231" cy="1804988"/>
          </a:xfrm>
          <a:custGeom>
            <a:avLst/>
            <a:gdLst>
              <a:gd name="connsiteX0" fmla="*/ 0 w 4898231"/>
              <a:gd name="connsiteY0" fmla="*/ 1804988 h 1804988"/>
              <a:gd name="connsiteX1" fmla="*/ 461963 w 4898231"/>
              <a:gd name="connsiteY1" fmla="*/ 773906 h 1804988"/>
              <a:gd name="connsiteX2" fmla="*/ 711994 w 4898231"/>
              <a:gd name="connsiteY2" fmla="*/ 383381 h 1804988"/>
              <a:gd name="connsiteX3" fmla="*/ 926306 w 4898231"/>
              <a:gd name="connsiteY3" fmla="*/ 123825 h 1804988"/>
              <a:gd name="connsiteX4" fmla="*/ 1231106 w 4898231"/>
              <a:gd name="connsiteY4" fmla="*/ 0 h 1804988"/>
              <a:gd name="connsiteX5" fmla="*/ 1581150 w 4898231"/>
              <a:gd name="connsiteY5" fmla="*/ 76200 h 1804988"/>
              <a:gd name="connsiteX6" fmla="*/ 2171700 w 4898231"/>
              <a:gd name="connsiteY6" fmla="*/ 485775 h 1804988"/>
              <a:gd name="connsiteX7" fmla="*/ 2812256 w 4898231"/>
              <a:gd name="connsiteY7" fmla="*/ 1071563 h 1804988"/>
              <a:gd name="connsiteX8" fmla="*/ 3255169 w 4898231"/>
              <a:gd name="connsiteY8" fmla="*/ 1431131 h 1804988"/>
              <a:gd name="connsiteX9" fmla="*/ 3586163 w 4898231"/>
              <a:gd name="connsiteY9" fmla="*/ 1628775 h 1804988"/>
              <a:gd name="connsiteX10" fmla="*/ 3812381 w 4898231"/>
              <a:gd name="connsiteY10" fmla="*/ 1690688 h 1804988"/>
              <a:gd name="connsiteX11" fmla="*/ 4269581 w 4898231"/>
              <a:gd name="connsiteY11" fmla="*/ 1752600 h 1804988"/>
              <a:gd name="connsiteX12" fmla="*/ 4898231 w 4898231"/>
              <a:gd name="connsiteY12" fmla="*/ 1797844 h 1804988"/>
              <a:gd name="connsiteX13" fmla="*/ 0 w 4898231"/>
              <a:gd name="connsiteY13" fmla="*/ 1804988 h 180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898231" h="1804988">
                <a:moveTo>
                  <a:pt x="0" y="1804988"/>
                </a:moveTo>
                <a:lnTo>
                  <a:pt x="461963" y="773906"/>
                </a:lnTo>
                <a:lnTo>
                  <a:pt x="711994" y="383381"/>
                </a:lnTo>
                <a:lnTo>
                  <a:pt x="926306" y="123825"/>
                </a:lnTo>
                <a:lnTo>
                  <a:pt x="1231106" y="0"/>
                </a:lnTo>
                <a:lnTo>
                  <a:pt x="1581150" y="76200"/>
                </a:lnTo>
                <a:lnTo>
                  <a:pt x="2171700" y="485775"/>
                </a:lnTo>
                <a:lnTo>
                  <a:pt x="2812256" y="1071563"/>
                </a:lnTo>
                <a:lnTo>
                  <a:pt x="3255169" y="1431131"/>
                </a:lnTo>
                <a:lnTo>
                  <a:pt x="3586163" y="1628775"/>
                </a:lnTo>
                <a:lnTo>
                  <a:pt x="3812381" y="1690688"/>
                </a:lnTo>
                <a:lnTo>
                  <a:pt x="4269581" y="1752600"/>
                </a:lnTo>
                <a:lnTo>
                  <a:pt x="4898231" y="1797844"/>
                </a:lnTo>
                <a:lnTo>
                  <a:pt x="0" y="1804988"/>
                </a:lnTo>
                <a:close/>
              </a:path>
            </a:pathLst>
          </a:custGeom>
          <a:pattFill prst="wdUpDiag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0BD4BD7B-6031-4AFA-B0C4-ED044F18B008}"/>
              </a:ext>
            </a:extLst>
          </p:cNvPr>
          <p:cNvSpPr/>
          <p:nvPr/>
        </p:nvSpPr>
        <p:spPr>
          <a:xfrm>
            <a:off x="2405459" y="2215736"/>
            <a:ext cx="6898482" cy="2934005"/>
          </a:xfrm>
          <a:custGeom>
            <a:avLst/>
            <a:gdLst>
              <a:gd name="connsiteX0" fmla="*/ 0 w 6896100"/>
              <a:gd name="connsiteY0" fmla="*/ 2093938 h 2261486"/>
              <a:gd name="connsiteX1" fmla="*/ 685800 w 6896100"/>
              <a:gd name="connsiteY1" fmla="*/ 2055838 h 2261486"/>
              <a:gd name="connsiteX2" fmla="*/ 2292350 w 6896100"/>
              <a:gd name="connsiteY2" fmla="*/ 52413 h 2261486"/>
              <a:gd name="connsiteX3" fmla="*/ 4899025 w 6896100"/>
              <a:gd name="connsiteY3" fmla="*/ 592163 h 2261486"/>
              <a:gd name="connsiteX4" fmla="*/ 6896100 w 6896100"/>
              <a:gd name="connsiteY4" fmla="*/ 668363 h 2261486"/>
              <a:gd name="connsiteX0" fmla="*/ 0 w 6892528"/>
              <a:gd name="connsiteY0" fmla="*/ 2260772 h 2359906"/>
              <a:gd name="connsiteX1" fmla="*/ 682228 w 6892528"/>
              <a:gd name="connsiteY1" fmla="*/ 2055838 h 2359906"/>
              <a:gd name="connsiteX2" fmla="*/ 2288778 w 6892528"/>
              <a:gd name="connsiteY2" fmla="*/ 52413 h 2359906"/>
              <a:gd name="connsiteX3" fmla="*/ 4895453 w 6892528"/>
              <a:gd name="connsiteY3" fmla="*/ 592163 h 2359906"/>
              <a:gd name="connsiteX4" fmla="*/ 6892528 w 6892528"/>
              <a:gd name="connsiteY4" fmla="*/ 668363 h 2359906"/>
              <a:gd name="connsiteX0" fmla="*/ 0 w 6892528"/>
              <a:gd name="connsiteY0" fmla="*/ 2260772 h 2295126"/>
              <a:gd name="connsiteX1" fmla="*/ 682228 w 6892528"/>
              <a:gd name="connsiteY1" fmla="*/ 2055838 h 2295126"/>
              <a:gd name="connsiteX2" fmla="*/ 2288778 w 6892528"/>
              <a:gd name="connsiteY2" fmla="*/ 52413 h 2295126"/>
              <a:gd name="connsiteX3" fmla="*/ 4895453 w 6892528"/>
              <a:gd name="connsiteY3" fmla="*/ 592163 h 2295126"/>
              <a:gd name="connsiteX4" fmla="*/ 6892528 w 6892528"/>
              <a:gd name="connsiteY4" fmla="*/ 668363 h 2295126"/>
              <a:gd name="connsiteX0" fmla="*/ 0 w 6892528"/>
              <a:gd name="connsiteY0" fmla="*/ 2260772 h 2274615"/>
              <a:gd name="connsiteX1" fmla="*/ 682228 w 6892528"/>
              <a:gd name="connsiteY1" fmla="*/ 2055838 h 2274615"/>
              <a:gd name="connsiteX2" fmla="*/ 2288778 w 6892528"/>
              <a:gd name="connsiteY2" fmla="*/ 52413 h 2274615"/>
              <a:gd name="connsiteX3" fmla="*/ 4895453 w 6892528"/>
              <a:gd name="connsiteY3" fmla="*/ 592163 h 2274615"/>
              <a:gd name="connsiteX4" fmla="*/ 6892528 w 6892528"/>
              <a:gd name="connsiteY4" fmla="*/ 668363 h 2274615"/>
              <a:gd name="connsiteX0" fmla="*/ 0 w 6892528"/>
              <a:gd name="connsiteY0" fmla="*/ 2260772 h 2264560"/>
              <a:gd name="connsiteX1" fmla="*/ 682228 w 6892528"/>
              <a:gd name="connsiteY1" fmla="*/ 2055838 h 2264560"/>
              <a:gd name="connsiteX2" fmla="*/ 2288778 w 6892528"/>
              <a:gd name="connsiteY2" fmla="*/ 52413 h 2264560"/>
              <a:gd name="connsiteX3" fmla="*/ 4895453 w 6892528"/>
              <a:gd name="connsiteY3" fmla="*/ 592163 h 2264560"/>
              <a:gd name="connsiteX4" fmla="*/ 6892528 w 6892528"/>
              <a:gd name="connsiteY4" fmla="*/ 668363 h 2264560"/>
              <a:gd name="connsiteX0" fmla="*/ 0 w 6892528"/>
              <a:gd name="connsiteY0" fmla="*/ 2260772 h 2260772"/>
              <a:gd name="connsiteX1" fmla="*/ 682228 w 6892528"/>
              <a:gd name="connsiteY1" fmla="*/ 2055838 h 2260772"/>
              <a:gd name="connsiteX2" fmla="*/ 2288778 w 6892528"/>
              <a:gd name="connsiteY2" fmla="*/ 52413 h 2260772"/>
              <a:gd name="connsiteX3" fmla="*/ 4895453 w 6892528"/>
              <a:gd name="connsiteY3" fmla="*/ 592163 h 2260772"/>
              <a:gd name="connsiteX4" fmla="*/ 6892528 w 6892528"/>
              <a:gd name="connsiteY4" fmla="*/ 668363 h 2260772"/>
              <a:gd name="connsiteX0" fmla="*/ 0 w 6892528"/>
              <a:gd name="connsiteY0" fmla="*/ 2216709 h 2216709"/>
              <a:gd name="connsiteX1" fmla="*/ 682228 w 6892528"/>
              <a:gd name="connsiteY1" fmla="*/ 2011775 h 2216709"/>
              <a:gd name="connsiteX2" fmla="*/ 2288778 w 6892528"/>
              <a:gd name="connsiteY2" fmla="*/ 8350 h 2216709"/>
              <a:gd name="connsiteX3" fmla="*/ 4881165 w 6892528"/>
              <a:gd name="connsiteY3" fmla="*/ 1271335 h 2216709"/>
              <a:gd name="connsiteX4" fmla="*/ 6892528 w 6892528"/>
              <a:gd name="connsiteY4" fmla="*/ 624300 h 2216709"/>
              <a:gd name="connsiteX0" fmla="*/ 0 w 6898482"/>
              <a:gd name="connsiteY0" fmla="*/ 2216709 h 2216709"/>
              <a:gd name="connsiteX1" fmla="*/ 682228 w 6898482"/>
              <a:gd name="connsiteY1" fmla="*/ 2011775 h 2216709"/>
              <a:gd name="connsiteX2" fmla="*/ 2288778 w 6898482"/>
              <a:gd name="connsiteY2" fmla="*/ 8350 h 2216709"/>
              <a:gd name="connsiteX3" fmla="*/ 4881165 w 6898482"/>
              <a:gd name="connsiteY3" fmla="*/ 1271335 h 2216709"/>
              <a:gd name="connsiteX4" fmla="*/ 6898482 w 6898482"/>
              <a:gd name="connsiteY4" fmla="*/ 1330442 h 2216709"/>
              <a:gd name="connsiteX0" fmla="*/ 0 w 6898482"/>
              <a:gd name="connsiteY0" fmla="*/ 2216709 h 2216709"/>
              <a:gd name="connsiteX1" fmla="*/ 682228 w 6898482"/>
              <a:gd name="connsiteY1" fmla="*/ 2011775 h 2216709"/>
              <a:gd name="connsiteX2" fmla="*/ 2288778 w 6898482"/>
              <a:gd name="connsiteY2" fmla="*/ 8350 h 2216709"/>
              <a:gd name="connsiteX3" fmla="*/ 4881165 w 6898482"/>
              <a:gd name="connsiteY3" fmla="*/ 1271335 h 2216709"/>
              <a:gd name="connsiteX4" fmla="*/ 6898482 w 6898482"/>
              <a:gd name="connsiteY4" fmla="*/ 1344834 h 221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8482" h="2216709">
                <a:moveTo>
                  <a:pt x="0" y="2216709"/>
                </a:moveTo>
                <a:cubicBezTo>
                  <a:pt x="405475" y="2112400"/>
                  <a:pt x="300765" y="2379835"/>
                  <a:pt x="682228" y="2011775"/>
                </a:cubicBezTo>
                <a:cubicBezTo>
                  <a:pt x="1063691" y="1643715"/>
                  <a:pt x="1588955" y="131757"/>
                  <a:pt x="2288778" y="8350"/>
                </a:cubicBezTo>
                <a:cubicBezTo>
                  <a:pt x="2988601" y="-115057"/>
                  <a:pt x="4113873" y="1168677"/>
                  <a:pt x="4881165" y="1271335"/>
                </a:cubicBezTo>
                <a:cubicBezTo>
                  <a:pt x="5648457" y="1373993"/>
                  <a:pt x="6573574" y="1336897"/>
                  <a:pt x="6898482" y="1344834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7799896-4DA9-4D01-93EE-1CC8FAB97B15}"/>
              </a:ext>
            </a:extLst>
          </p:cNvPr>
          <p:cNvSpPr/>
          <p:nvPr/>
        </p:nvSpPr>
        <p:spPr>
          <a:xfrm>
            <a:off x="2400399" y="2171306"/>
            <a:ext cx="362858" cy="2999399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4F8EABB-B208-4294-99B8-21DEBE7E9504}"/>
              </a:ext>
            </a:extLst>
          </p:cNvPr>
          <p:cNvCxnSpPr>
            <a:cxnSpLocks/>
          </p:cNvCxnSpPr>
          <p:nvPr/>
        </p:nvCxnSpPr>
        <p:spPr>
          <a:xfrm>
            <a:off x="2390374" y="5145373"/>
            <a:ext cx="394497" cy="0"/>
          </a:xfrm>
          <a:prstGeom prst="line">
            <a:avLst/>
          </a:prstGeom>
          <a:ln w="571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B433E40-BA57-4774-B3AA-C9D7572F045A}"/>
              </a:ext>
            </a:extLst>
          </p:cNvPr>
          <p:cNvCxnSpPr>
            <a:cxnSpLocks/>
          </p:cNvCxnSpPr>
          <p:nvPr/>
        </p:nvCxnSpPr>
        <p:spPr>
          <a:xfrm>
            <a:off x="2400398" y="5170685"/>
            <a:ext cx="69055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>
            <a:extLst>
              <a:ext uri="{FF2B5EF4-FFF2-40B4-BE49-F238E27FC236}">
                <a16:creationId xmlns:a16="http://schemas.microsoft.com/office/drawing/2014/main" id="{830BC024-84C2-42BE-9DBE-EFB77DC98094}"/>
              </a:ext>
            </a:extLst>
          </p:cNvPr>
          <p:cNvSpPr txBox="1"/>
          <p:nvPr/>
        </p:nvSpPr>
        <p:spPr>
          <a:xfrm>
            <a:off x="1460788" y="136702"/>
            <a:ext cx="134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Short term </a:t>
            </a: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011CCC34-8F3B-4782-AD1B-1ABDC02EF4E0}"/>
              </a:ext>
            </a:extLst>
          </p:cNvPr>
          <p:cNvCxnSpPr>
            <a:cxnSpLocks/>
          </p:cNvCxnSpPr>
          <p:nvPr/>
        </p:nvCxnSpPr>
        <p:spPr>
          <a:xfrm flipV="1">
            <a:off x="2400398" y="1973901"/>
            <a:ext cx="0" cy="32039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80506D5-539B-4305-9E45-342892D033D6}"/>
              </a:ext>
            </a:extLst>
          </p:cNvPr>
          <p:cNvSpPr/>
          <p:nvPr/>
        </p:nvSpPr>
        <p:spPr>
          <a:xfrm>
            <a:off x="7107134" y="4015582"/>
            <a:ext cx="2189886" cy="1144874"/>
          </a:xfrm>
          <a:prstGeom prst="rect">
            <a:avLst/>
          </a:prstGeom>
          <a:pattFill prst="wdUpDiag">
            <a:fgClr>
              <a:srgbClr val="2F528F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2CF633C-C15B-4B8B-923C-1AC9AC3ABC56}"/>
              </a:ext>
            </a:extLst>
          </p:cNvPr>
          <p:cNvSpPr txBox="1"/>
          <p:nvPr/>
        </p:nvSpPr>
        <p:spPr>
          <a:xfrm>
            <a:off x="7288330" y="4264854"/>
            <a:ext cx="1957763" cy="646331"/>
          </a:xfrm>
          <a:prstGeom prst="rect">
            <a:avLst/>
          </a:prstGeom>
          <a:solidFill>
            <a:srgbClr val="DAE3F3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Resilience-driven deviation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A6A6D01-DD13-489F-A747-E71BA0820AB8}"/>
              </a:ext>
            </a:extLst>
          </p:cNvPr>
          <p:cNvSpPr txBox="1"/>
          <p:nvPr/>
        </p:nvSpPr>
        <p:spPr>
          <a:xfrm>
            <a:off x="4176712" y="3027254"/>
            <a:ext cx="1562101" cy="646331"/>
          </a:xfrm>
          <a:prstGeom prst="rect">
            <a:avLst/>
          </a:prstGeom>
          <a:solidFill>
            <a:srgbClr val="DAE3F3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The signal of structure</a:t>
            </a:r>
          </a:p>
        </p:txBody>
      </p:sp>
    </p:spTree>
    <p:extLst>
      <p:ext uri="{BB962C8B-B14F-4D97-AF65-F5344CB8AC3E}">
        <p14:creationId xmlns:p14="http://schemas.microsoft.com/office/powerpoint/2010/main" val="19732410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180</Words>
  <Application>Microsoft Office PowerPoint</Application>
  <PresentationFormat>Panorámica</PresentationFormat>
  <Paragraphs>67</Paragraphs>
  <Slides>12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Agency FB</vt:lpstr>
      <vt:lpstr>Aptos</vt:lpstr>
      <vt:lpstr>Arial</vt:lpstr>
      <vt:lpstr>Calibri</vt:lpstr>
      <vt:lpstr>Calibri Light</vt:lpstr>
      <vt:lpstr>Cambria Math</vt:lpstr>
      <vt:lpstr>Google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Merino</dc:creator>
  <cp:lastModifiedBy>Nicolas Merino</cp:lastModifiedBy>
  <cp:revision>45</cp:revision>
  <dcterms:created xsi:type="dcterms:W3CDTF">2025-12-16T16:16:08Z</dcterms:created>
  <dcterms:modified xsi:type="dcterms:W3CDTF">2026-01-07T17:52:25Z</dcterms:modified>
</cp:coreProperties>
</file>